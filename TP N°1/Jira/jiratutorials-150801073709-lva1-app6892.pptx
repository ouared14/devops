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USA: +1-770-777-1269                 UK: 020-33717615 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03859A-F6A5-41C9-9B3E-3DAF52D6F5BE}" type="datetimeFigureOut">
              <a:rPr lang="en-US" smtClean="0"/>
              <a:t>8/1/2015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www.H2kinfosys.com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DAB63-B7E8-4F9D-9540-F634FCFF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104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USA: +1-770-777-1269                 UK: 020-33717615 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266E2-C471-4020-90B8-58945B38BBAD}" type="datetimeFigureOut">
              <a:rPr lang="en-US" smtClean="0"/>
              <a:t>8/1/2015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www.H2kinfosys.com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1A795-D8A3-48D1-9FAE-26700EA2E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0841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969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76262-65BD-4151-AD12-465748E856A0}" type="datetime1">
              <a:rPr lang="en-US" smtClean="0"/>
              <a:t>8/1/2015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49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7860-31E9-43E3-8188-FA73703C6ED8}" type="datetime1">
              <a:rPr lang="en-US" smtClean="0"/>
              <a:t>8/1/2015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104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F4D1-86BB-4C00-B6FD-22727B6E55A1}" type="datetime1">
              <a:rPr lang="en-US" smtClean="0"/>
              <a:t>8/1/2015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E531-1F6F-4CF1-B48F-28EEDC50F9CC}" type="datetime1">
              <a:rPr lang="en-US" smtClean="0"/>
              <a:t>8/1/2015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3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DEB9-D532-42C2-9601-29EFCAE77FF4}" type="datetime1">
              <a:rPr lang="en-US" smtClean="0"/>
              <a:t>8/1/2015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26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A4B8B-30D8-44B5-9DAB-F0518AB81809}" type="datetime1">
              <a:rPr lang="en-US" smtClean="0"/>
              <a:t>8/1/2015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2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93E5-8FEF-4B38-BB76-EDBF97C182F5}" type="datetime1">
              <a:rPr lang="en-US" smtClean="0"/>
              <a:t>8/1/2015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40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F7C4B-74CC-43B4-AB01-6FBAA18862A4}" type="datetime1">
              <a:rPr lang="en-US" smtClean="0"/>
              <a:t>8/1/2015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3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65752-554B-41F7-B24E-9C9C02EFA295}" type="datetime1">
              <a:rPr lang="en-US" smtClean="0"/>
              <a:t>8/1/2015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01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DFA4C-751E-49BB-A522-99D748A825B3}" type="datetime1">
              <a:rPr lang="en-US" smtClean="0"/>
              <a:t>8/1/2015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83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C2DA2-0450-43A6-A5E1-452DF0AF709D}" type="datetime1">
              <a:rPr lang="en-US" smtClean="0"/>
              <a:t>8/1/2015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1711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2DCD-AC71-4AD6-9C5C-2D8A855D5360}" type="datetime1">
              <a:rPr lang="en-US" smtClean="0"/>
              <a:t>8/1/2015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85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94287-D705-436E-971C-DB78398CC12B}" type="datetime1">
              <a:rPr lang="en-US" smtClean="0"/>
              <a:t>8/1/2015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3712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5F6B-4FE3-4939-B6ED-C2E4C8588C7A}" type="datetime1">
              <a:rPr lang="en-US" smtClean="0"/>
              <a:t>8/1/2015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53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D999-8FCF-4F75-9F92-95424650EF46}" type="datetime1">
              <a:rPr lang="en-US" smtClean="0"/>
              <a:t>8/1/2015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364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CE05-0B57-4F02-A7B9-D4EED3EFC2F0}" type="datetime1">
              <a:rPr lang="en-US" smtClean="0"/>
              <a:t>8/1/2015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DBFCA-D4B4-41AB-9C1C-BCBFE278C8E1}" type="datetime1">
              <a:rPr lang="en-US" smtClean="0"/>
              <a:t>8/1/2015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www.H2kinfosys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B8B7C5D-D602-4F84-9068-0B5D00759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6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atlassian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Training@h2kinfosys.com" TargetMode="External"/><Relationship Id="rId2" Type="http://schemas.openxmlformats.org/officeDocument/2006/relationships/hyperlink" Target="http://www.h2kinfosys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1697" y="286603"/>
            <a:ext cx="10562916" cy="120100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latin typeface="Bookman Old Style" panose="02050604050505020204" pitchFamily="18" charset="0"/>
              </a:rPr>
              <a:t>      JIRA Introduction </a:t>
            </a:r>
            <a:endParaRPr lang="en-US" b="1" dirty="0">
              <a:solidFill>
                <a:schemeClr val="accent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2824" y="2198711"/>
            <a:ext cx="9211789" cy="3418349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b="1" dirty="0" smtClean="0"/>
              <a:t>What is JIRA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b="1" dirty="0" smtClean="0"/>
              <a:t>JIRA Users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b="1" dirty="0" smtClean="0"/>
              <a:t>Scope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b="1" dirty="0" smtClean="0"/>
              <a:t>Concepts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b="1" dirty="0" smtClean="0"/>
              <a:t>Issues </a:t>
            </a:r>
            <a:endParaRPr lang="en-US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549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/>
          <p:cNvSpPr txBox="1"/>
          <p:nvPr/>
        </p:nvSpPr>
        <p:spPr>
          <a:xfrm>
            <a:off x="2524836" y="6005015"/>
            <a:ext cx="7328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              </a:t>
            </a:r>
            <a:r>
              <a:rPr lang="en-US" sz="4000" b="1" dirty="0" smtClean="0">
                <a:solidFill>
                  <a:schemeClr val="accent3">
                    <a:lumMod val="50000"/>
                  </a:schemeClr>
                </a:solidFill>
              </a:rPr>
              <a:t>www.H2kinfosys.com</a:t>
            </a:r>
            <a:endParaRPr lang="en-US" sz="4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-6505" t="-12286" r="-1784" b="-5005"/>
          <a:stretch/>
        </p:blipFill>
        <p:spPr>
          <a:xfrm>
            <a:off x="2668137" y="5508341"/>
            <a:ext cx="7042245" cy="1302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97054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7857" y="491319"/>
            <a:ext cx="9716755" cy="1413681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                    What is JIRA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3015" y="1787856"/>
            <a:ext cx="10071597" cy="412336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 smtClean="0">
              <a:latin typeface="Aparajita" panose="020B0604020202020204" pitchFamily="34" charset="0"/>
              <a:cs typeface="Aparajita" panose="020B0604020202020204" pitchFamily="34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Aparajita" panose="020B0604020202020204" pitchFamily="34" charset="0"/>
                <a:cs typeface="Aparajita" panose="020B0604020202020204" pitchFamily="34" charset="0"/>
              </a:rPr>
              <a:t>JIRA</a:t>
            </a:r>
            <a:r>
              <a:rPr lang="en-US" sz="3200" dirty="0">
                <a:latin typeface="Aparajita" panose="020B0604020202020204" pitchFamily="34" charset="0"/>
                <a:cs typeface="Aparajita" panose="020B0604020202020204" pitchFamily="34" charset="0"/>
              </a:rPr>
              <a:t> is a</a:t>
            </a:r>
            <a:r>
              <a:rPr lang="en-US" sz="3200" dirty="0">
                <a:solidFill>
                  <a:srgbClr val="C00000"/>
                </a:solidFill>
                <a:latin typeface="Aparajita" panose="020B0604020202020204" pitchFamily="34" charset="0"/>
                <a:cs typeface="Aparajita" panose="020B0604020202020204" pitchFamily="34" charset="0"/>
              </a:rPr>
              <a:t> proprietary</a:t>
            </a:r>
            <a:r>
              <a:rPr lang="en-US" sz="3200" dirty="0">
                <a:latin typeface="Aparajita" panose="020B0604020202020204" pitchFamily="34" charset="0"/>
                <a:cs typeface="Aparajita" panose="020B0604020202020204" pitchFamily="34" charset="0"/>
              </a:rPr>
              <a:t> </a:t>
            </a:r>
            <a:r>
              <a:rPr lang="en-US" sz="3200" dirty="0">
                <a:solidFill>
                  <a:srgbClr val="C00000"/>
                </a:solidFill>
                <a:latin typeface="Aparajita" panose="020B0604020202020204" pitchFamily="34" charset="0"/>
                <a:cs typeface="Aparajita" panose="020B0604020202020204" pitchFamily="34" charset="0"/>
              </a:rPr>
              <a:t>issue tracking</a:t>
            </a:r>
            <a:r>
              <a:rPr lang="en-US" sz="3200" dirty="0">
                <a:latin typeface="Aparajita" panose="020B0604020202020204" pitchFamily="34" charset="0"/>
                <a:cs typeface="Aparajita" panose="020B0604020202020204" pitchFamily="34" charset="0"/>
              </a:rPr>
              <a:t> product, developed by </a:t>
            </a:r>
            <a:r>
              <a:rPr lang="en-US" sz="3200" dirty="0" err="1">
                <a:solidFill>
                  <a:srgbClr val="C00000"/>
                </a:solidFill>
                <a:latin typeface="Aparajita" panose="020B0604020202020204" pitchFamily="34" charset="0"/>
                <a:cs typeface="Aparajita" panose="020B0604020202020204" pitchFamily="34" charset="0"/>
              </a:rPr>
              <a:t>Atlassian</a:t>
            </a:r>
            <a:r>
              <a:rPr lang="en-US" sz="3200" dirty="0">
                <a:latin typeface="Aparajita" panose="020B0604020202020204" pitchFamily="34" charset="0"/>
                <a:cs typeface="Aparajita" panose="020B0604020202020204" pitchFamily="34" charset="0"/>
              </a:rPr>
              <a:t>. It provides </a:t>
            </a:r>
            <a:r>
              <a:rPr lang="en-US" sz="3200" dirty="0">
                <a:solidFill>
                  <a:srgbClr val="C00000"/>
                </a:solidFill>
                <a:latin typeface="Aparajita" panose="020B0604020202020204" pitchFamily="34" charset="0"/>
                <a:cs typeface="Aparajita" panose="020B0604020202020204" pitchFamily="34" charset="0"/>
              </a:rPr>
              <a:t>bug tracking</a:t>
            </a:r>
            <a:r>
              <a:rPr lang="en-US" sz="3200" dirty="0">
                <a:latin typeface="Aparajita" panose="020B0604020202020204" pitchFamily="34" charset="0"/>
                <a:cs typeface="Aparajita" panose="020B0604020202020204" pitchFamily="34" charset="0"/>
              </a:rPr>
              <a:t>, issue tracking, and </a:t>
            </a:r>
            <a:r>
              <a:rPr lang="en-US" sz="3200" dirty="0">
                <a:solidFill>
                  <a:srgbClr val="C00000"/>
                </a:solidFill>
                <a:latin typeface="Aparajita" panose="020B0604020202020204" pitchFamily="34" charset="0"/>
                <a:cs typeface="Aparajita" panose="020B0604020202020204" pitchFamily="34" charset="0"/>
              </a:rPr>
              <a:t>project management</a:t>
            </a:r>
            <a:r>
              <a:rPr lang="en-US" sz="3200" dirty="0">
                <a:latin typeface="Aparajita" panose="020B0604020202020204" pitchFamily="34" charset="0"/>
                <a:cs typeface="Aparajita" panose="020B0604020202020204" pitchFamily="34" charset="0"/>
              </a:rPr>
              <a:t> functions. Although normally styled JIRA, the product name is not an acronym, but a truncation of </a:t>
            </a:r>
            <a:r>
              <a:rPr lang="en-US" sz="3200" dirty="0" err="1">
                <a:latin typeface="Aparajita" panose="020B0604020202020204" pitchFamily="34" charset="0"/>
                <a:cs typeface="Aparajita" panose="020B0604020202020204" pitchFamily="34" charset="0"/>
              </a:rPr>
              <a:t>Gojira</a:t>
            </a:r>
            <a:r>
              <a:rPr lang="en-US" sz="3200" dirty="0">
                <a:latin typeface="Aparajita" panose="020B0604020202020204" pitchFamily="34" charset="0"/>
                <a:cs typeface="Aparajita" panose="020B0604020202020204" pitchFamily="34" charset="0"/>
              </a:rPr>
              <a:t>, the Japanese name for </a:t>
            </a:r>
            <a:r>
              <a:rPr lang="en-US" sz="3200" dirty="0">
                <a:solidFill>
                  <a:srgbClr val="C00000"/>
                </a:solidFill>
                <a:latin typeface="Aparajita" panose="020B0604020202020204" pitchFamily="34" charset="0"/>
                <a:cs typeface="Aparajita" panose="020B0604020202020204" pitchFamily="34" charset="0"/>
              </a:rPr>
              <a:t>Godzilla</a:t>
            </a:r>
            <a:r>
              <a:rPr lang="en-US" sz="3200" dirty="0">
                <a:latin typeface="Aparajita" panose="020B0604020202020204" pitchFamily="34" charset="0"/>
                <a:cs typeface="Aparajita" panose="020B0604020202020204" pitchFamily="34" charset="0"/>
              </a:rPr>
              <a:t>. It has been developed since 2002.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3269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-6505" t="-12286" r="-1784" b="-5005"/>
          <a:stretch/>
        </p:blipFill>
        <p:spPr>
          <a:xfrm>
            <a:off x="2668137" y="5508341"/>
            <a:ext cx="7042245" cy="1302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2353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2">
                    <a:lumMod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     JIRA Users</a:t>
            </a:r>
            <a:endParaRPr lang="en-US" sz="4000" b="1" dirty="0">
              <a:solidFill>
                <a:schemeClr val="bg2">
                  <a:lumMod val="1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9367" y="1569493"/>
            <a:ext cx="10085245" cy="434172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According </a:t>
            </a:r>
            <a:r>
              <a:rPr lang="en-US" sz="3600" dirty="0"/>
              <a:t>to </a:t>
            </a:r>
            <a:r>
              <a:rPr lang="en-US" sz="3600" dirty="0" err="1"/>
              <a:t>Atlassian</a:t>
            </a:r>
            <a:r>
              <a:rPr lang="en-US" sz="3600" dirty="0"/>
              <a:t>, JIRA is used for issue tracking and project management by over 25,000 customers in 122 countries around the globe</a:t>
            </a:r>
          </a:p>
        </p:txBody>
      </p:sp>
      <p:pic>
        <p:nvPicPr>
          <p:cNvPr id="5" name="Picture 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477" y="3960932"/>
            <a:ext cx="4799689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3269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-6505" t="-12286" r="-1784" b="-5005"/>
          <a:stretch/>
        </p:blipFill>
        <p:spPr>
          <a:xfrm>
            <a:off x="878259" y="5525868"/>
            <a:ext cx="7042245" cy="13028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-6505" t="-12286" r="-1784" b="-5005"/>
          <a:stretch/>
        </p:blipFill>
        <p:spPr>
          <a:xfrm>
            <a:off x="878259" y="5555102"/>
            <a:ext cx="7042245" cy="1302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9779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219" y="624110"/>
            <a:ext cx="9580727" cy="128089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2197" y="1905000"/>
            <a:ext cx="9962415" cy="40062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sz="3200" dirty="0" smtClean="0"/>
          </a:p>
          <a:p>
            <a:pPr marL="0" indent="0">
              <a:buNone/>
            </a:pPr>
            <a:r>
              <a:rPr lang="en-US" altLang="en-US" sz="3200" dirty="0" smtClean="0"/>
              <a:t>a </a:t>
            </a:r>
            <a:r>
              <a:rPr lang="en-US" altLang="en-US" sz="3200" dirty="0"/>
              <a:t>web based tool developed by </a:t>
            </a:r>
            <a:r>
              <a:rPr lang="en-US" altLang="en-US" sz="3200" dirty="0" err="1"/>
              <a:t>Atlassian</a:t>
            </a:r>
            <a:r>
              <a:rPr lang="en-US" altLang="en-US" sz="3200" dirty="0"/>
              <a:t> (see </a:t>
            </a:r>
            <a:r>
              <a:rPr lang="en-US" altLang="en-US" sz="3200" dirty="0">
                <a:hlinkClick r:id="rId2"/>
              </a:rPr>
              <a:t>http://www.atlassian.com</a:t>
            </a:r>
            <a:r>
              <a:rPr lang="en-US" altLang="en-US" sz="3200" dirty="0"/>
              <a:t>),</a:t>
            </a:r>
            <a:r>
              <a:rPr lang="en-US" altLang="en-US" sz="3200" b="1" dirty="0"/>
              <a:t> for the Project Management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3269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-6505" t="-12286" r="-1784" b="-5005"/>
          <a:stretch/>
        </p:blipFill>
        <p:spPr>
          <a:xfrm>
            <a:off x="2640842" y="5399159"/>
            <a:ext cx="7042245" cy="1302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693148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                Concepts</a:t>
            </a:r>
            <a:endParaRPr lang="en-U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3958" y="1905000"/>
            <a:ext cx="10030654" cy="40062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latin typeface="Aparajita" panose="020B0604020202020204" pitchFamily="34" charset="0"/>
                <a:cs typeface="Aparajita" panose="020B0604020202020204" pitchFamily="34" charset="0"/>
              </a:rPr>
              <a:t>JIRA has 3 concepts.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Issue</a:t>
            </a:r>
            <a:endParaRPr lang="en-US" sz="2400" dirty="0"/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Project</a:t>
            </a:r>
            <a:r>
              <a:rPr lang="en-US" sz="2400" dirty="0"/>
              <a:t> 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Workflow</a:t>
            </a:r>
            <a:endParaRPr lang="en-US" sz="2400" dirty="0"/>
          </a:p>
          <a:p>
            <a:pPr marL="0" indent="0">
              <a:buNone/>
            </a:pPr>
            <a:endParaRPr lang="en-US" sz="3200" b="1" dirty="0">
              <a:latin typeface="Aparajita" panose="020B0604020202020204" pitchFamily="34" charset="0"/>
              <a:cs typeface="Aparajita" panose="020B0604020202020204" pitchFamily="34" charset="0"/>
            </a:endParaRPr>
          </a:p>
          <a:p>
            <a:pPr marL="0" indent="0">
              <a:buNone/>
            </a:pPr>
            <a:endParaRPr lang="en-US" sz="3200" b="1" dirty="0">
              <a:latin typeface="Aparajita" panose="020B0604020202020204" pitchFamily="34" charset="0"/>
              <a:cs typeface="Aparajita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3269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-6505" t="-12286" r="-1784" b="-5005"/>
          <a:stretch/>
        </p:blipFill>
        <p:spPr>
          <a:xfrm>
            <a:off x="2668137" y="5508341"/>
            <a:ext cx="7042245" cy="1302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470995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   What </a:t>
            </a:r>
            <a:r>
              <a:rPr lang="en-US" sz="4000" b="1" dirty="0"/>
              <a:t>is an Issue?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209" y="2133600"/>
            <a:ext cx="7915701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Aparajita" panose="020B0604020202020204" pitchFamily="34" charset="0"/>
                <a:cs typeface="Aparajita" panose="020B0604020202020204" pitchFamily="34" charset="0"/>
              </a:rPr>
              <a:t>Different </a:t>
            </a:r>
            <a:r>
              <a:rPr lang="en-US" sz="2800" dirty="0" smtClean="0">
                <a:latin typeface="Aparajita" panose="020B0604020202020204" pitchFamily="34" charset="0"/>
                <a:cs typeface="Aparajita" panose="020B0604020202020204" pitchFamily="34" charset="0"/>
              </a:rPr>
              <a:t>organizations </a:t>
            </a:r>
            <a:r>
              <a:rPr lang="en-US" sz="2800" dirty="0">
                <a:latin typeface="Aparajita" panose="020B0604020202020204" pitchFamily="34" charset="0"/>
                <a:cs typeface="Aparajita" panose="020B0604020202020204" pitchFamily="34" charset="0"/>
              </a:rPr>
              <a:t>use JIRA to track different kinds of issues. Depending on how your </a:t>
            </a:r>
            <a:r>
              <a:rPr lang="en-US" sz="2800" dirty="0" smtClean="0">
                <a:latin typeface="Aparajita" panose="020B0604020202020204" pitchFamily="34" charset="0"/>
                <a:cs typeface="Aparajita" panose="020B0604020202020204" pitchFamily="34" charset="0"/>
              </a:rPr>
              <a:t>organization </a:t>
            </a:r>
            <a:r>
              <a:rPr lang="en-US" sz="2800" dirty="0">
                <a:latin typeface="Aparajita" panose="020B0604020202020204" pitchFamily="34" charset="0"/>
                <a:cs typeface="Aparajita" panose="020B0604020202020204" pitchFamily="34" charset="0"/>
              </a:rPr>
              <a:t>is using JIRA, an issue could represent a software bug, a project task, a helpdesk ticket </a:t>
            </a:r>
            <a:r>
              <a:rPr lang="en-US" sz="2800" dirty="0" err="1">
                <a:latin typeface="Aparajita" panose="020B0604020202020204" pitchFamily="34" charset="0"/>
                <a:cs typeface="Aparajita" panose="020B0604020202020204" pitchFamily="34" charset="0"/>
              </a:rPr>
              <a:t>etc</a:t>
            </a:r>
            <a:endParaRPr lang="en-US" sz="2800" dirty="0">
              <a:latin typeface="Aparajita" panose="020B0604020202020204" pitchFamily="34" charset="0"/>
              <a:cs typeface="Aparajita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211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-6505" t="-12286" r="-1784" b="-5005"/>
          <a:stretch/>
        </p:blipFill>
        <p:spPr>
          <a:xfrm>
            <a:off x="2668137" y="5508341"/>
            <a:ext cx="7042245" cy="1302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7920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What is an Issue type?</a:t>
            </a:r>
            <a:endParaRPr lang="en-U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848" y="1746914"/>
            <a:ext cx="6646459" cy="3920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211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-6505" t="-12286" r="-1784" b="-5005"/>
          <a:stretch/>
        </p:blipFill>
        <p:spPr>
          <a:xfrm>
            <a:off x="2668137" y="5508341"/>
            <a:ext cx="7042245" cy="1302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931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What is an Issue Priority?</a:t>
            </a:r>
            <a:endParaRPr lang="en-U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3" y="1760561"/>
            <a:ext cx="6691266" cy="3995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211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-6505" t="-12286" r="-1784" b="-5005"/>
          <a:stretch/>
        </p:blipFill>
        <p:spPr>
          <a:xfrm>
            <a:off x="2668137" y="5508341"/>
            <a:ext cx="7042245" cy="1302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3462806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3391" y="624110"/>
            <a:ext cx="9621221" cy="1280890"/>
          </a:xfrm>
        </p:spPr>
        <p:txBody>
          <a:bodyPr/>
          <a:lstStyle/>
          <a:p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What is an Issue Status?</a:t>
            </a:r>
            <a:endParaRPr lang="en-U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211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618" y="1282890"/>
            <a:ext cx="7993576" cy="380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618" y="5090615"/>
            <a:ext cx="782980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027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267" y="624110"/>
            <a:ext cx="9771346" cy="1280890"/>
          </a:xfrm>
        </p:spPr>
        <p:txBody>
          <a:bodyPr>
            <a:normAutofit/>
          </a:bodyPr>
          <a:lstStyle/>
          <a:p>
            <a:r>
              <a:rPr lang="en-US" sz="4000" b="1" dirty="0"/>
              <a:t>What is an Issue Resolution?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639" y="2088107"/>
            <a:ext cx="10521973" cy="382311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211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90" y="1905000"/>
            <a:ext cx="8710211" cy="3799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-6505" t="-12286" r="-1784" b="-5005"/>
          <a:stretch/>
        </p:blipFill>
        <p:spPr>
          <a:xfrm>
            <a:off x="2668137" y="5508341"/>
            <a:ext cx="7042245" cy="1302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8297798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5153" y="624110"/>
            <a:ext cx="9689460" cy="1280890"/>
          </a:xfrm>
        </p:spPr>
        <p:txBody>
          <a:bodyPr>
            <a:normAutofit/>
          </a:bodyPr>
          <a:lstStyle/>
          <a:p>
            <a:r>
              <a:rPr lang="en-US" sz="4000" b="1" dirty="0"/>
              <a:t>What is Project?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310" y="1905000"/>
            <a:ext cx="10044302" cy="40062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parajita" panose="020B0604020202020204" pitchFamily="34" charset="0"/>
                <a:cs typeface="Aparajita" panose="020B0604020202020204" pitchFamily="34" charset="0"/>
              </a:rPr>
              <a:t>A </a:t>
            </a:r>
            <a:r>
              <a:rPr lang="en-US" sz="2400" b="1" dirty="0">
                <a:latin typeface="Aparajita" panose="020B0604020202020204" pitchFamily="34" charset="0"/>
                <a:cs typeface="Aparajita" panose="020B0604020202020204" pitchFamily="34" charset="0"/>
              </a:rPr>
              <a:t>JIRA project </a:t>
            </a:r>
            <a:r>
              <a:rPr lang="en-US" sz="2400" dirty="0">
                <a:latin typeface="Aparajita" panose="020B0604020202020204" pitchFamily="34" charset="0"/>
                <a:cs typeface="Aparajita" panose="020B0604020202020204" pitchFamily="34" charset="0"/>
              </a:rPr>
              <a:t>is a collection of issues, and is defined according to your </a:t>
            </a:r>
            <a:r>
              <a:rPr lang="en-US" sz="2400" dirty="0" smtClean="0">
                <a:latin typeface="Aparajita" panose="020B0604020202020204" pitchFamily="34" charset="0"/>
                <a:cs typeface="Aparajita" panose="020B0604020202020204" pitchFamily="34" charset="0"/>
              </a:rPr>
              <a:t>organization's</a:t>
            </a:r>
            <a:endParaRPr lang="en-US" sz="2400" dirty="0">
              <a:latin typeface="Aparajita" panose="020B0604020202020204" pitchFamily="34" charset="0"/>
              <a:cs typeface="Aparajita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parajita" panose="020B0604020202020204" pitchFamily="34" charset="0"/>
                <a:cs typeface="Aparajita" panose="020B0604020202020204" pitchFamily="34" charset="0"/>
              </a:rPr>
              <a:t>requirements. For example, a JIRA project could be:</a:t>
            </a:r>
          </a:p>
          <a:p>
            <a:r>
              <a:rPr lang="en-US" sz="2400" dirty="0">
                <a:latin typeface="Aparajita" panose="020B0604020202020204" pitchFamily="34" charset="0"/>
                <a:cs typeface="Aparajita" panose="020B0604020202020204" pitchFamily="34" charset="0"/>
              </a:rPr>
              <a:t>a software development project</a:t>
            </a:r>
          </a:p>
          <a:p>
            <a:r>
              <a:rPr lang="en-US" sz="2400" dirty="0" smtClean="0">
                <a:latin typeface="Aparajita" panose="020B0604020202020204" pitchFamily="34" charset="0"/>
                <a:cs typeface="Aparajita" panose="020B0604020202020204" pitchFamily="34" charset="0"/>
              </a:rPr>
              <a:t>a </a:t>
            </a:r>
            <a:r>
              <a:rPr lang="en-US" sz="2400" dirty="0">
                <a:latin typeface="Aparajita" panose="020B0604020202020204" pitchFamily="34" charset="0"/>
                <a:cs typeface="Aparajita" panose="020B0604020202020204" pitchFamily="34" charset="0"/>
              </a:rPr>
              <a:t>marketing campaign</a:t>
            </a:r>
          </a:p>
          <a:p>
            <a:r>
              <a:rPr lang="en-US" sz="2400" dirty="0" smtClean="0">
                <a:latin typeface="Aparajita" panose="020B0604020202020204" pitchFamily="34" charset="0"/>
                <a:cs typeface="Aparajita" panose="020B0604020202020204" pitchFamily="34" charset="0"/>
              </a:rPr>
              <a:t>a </a:t>
            </a:r>
            <a:r>
              <a:rPr lang="en-US" sz="2400" dirty="0">
                <a:latin typeface="Aparajita" panose="020B0604020202020204" pitchFamily="34" charset="0"/>
                <a:cs typeface="Aparajita" panose="020B0604020202020204" pitchFamily="34" charset="0"/>
              </a:rPr>
              <a:t>helpdesk system</a:t>
            </a:r>
          </a:p>
          <a:p>
            <a:r>
              <a:rPr lang="en-US" sz="2400" dirty="0" smtClean="0">
                <a:latin typeface="Aparajita" panose="020B0604020202020204" pitchFamily="34" charset="0"/>
                <a:cs typeface="Aparajita" panose="020B0604020202020204" pitchFamily="34" charset="0"/>
              </a:rPr>
              <a:t>a </a:t>
            </a:r>
            <a:r>
              <a:rPr lang="en-US" sz="2400" dirty="0">
                <a:latin typeface="Aparajita" panose="020B0604020202020204" pitchFamily="34" charset="0"/>
                <a:cs typeface="Aparajita" panose="020B0604020202020204" pitchFamily="34" charset="0"/>
              </a:rPr>
              <a:t>leave request management system</a:t>
            </a:r>
          </a:p>
          <a:p>
            <a:r>
              <a:rPr lang="en-US" sz="2400" dirty="0" smtClean="0">
                <a:latin typeface="Aparajita" panose="020B0604020202020204" pitchFamily="34" charset="0"/>
                <a:cs typeface="Aparajita" panose="020B0604020202020204" pitchFamily="34" charset="0"/>
              </a:rPr>
              <a:t>a </a:t>
            </a:r>
            <a:r>
              <a:rPr lang="en-US" sz="2400" dirty="0">
                <a:latin typeface="Aparajita" panose="020B0604020202020204" pitchFamily="34" charset="0"/>
                <a:cs typeface="Aparajita" panose="020B0604020202020204" pitchFamily="34" charset="0"/>
              </a:rPr>
              <a:t>website enhancement request system</a:t>
            </a:r>
          </a:p>
          <a:p>
            <a:pPr marL="0" indent="0">
              <a:buNone/>
            </a:pPr>
            <a:endParaRPr lang="en-US" sz="2400" dirty="0">
              <a:latin typeface="Aparajita" panose="020B0604020202020204" pitchFamily="34" charset="0"/>
              <a:cs typeface="Aparajita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211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-6505" t="-12286" r="-1784" b="-5005"/>
          <a:stretch/>
        </p:blipFill>
        <p:spPr>
          <a:xfrm>
            <a:off x="2668137" y="5508341"/>
            <a:ext cx="7042245" cy="1302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7862668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What is a component?</a:t>
            </a:r>
            <a:endParaRPr lang="en-U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504" y="2133600"/>
            <a:ext cx="9703108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Aparajita" panose="020B0604020202020204" pitchFamily="34" charset="0"/>
                <a:cs typeface="Aparajita" panose="020B0604020202020204" pitchFamily="34" charset="0"/>
              </a:rPr>
              <a:t>What is a component?</a:t>
            </a:r>
          </a:p>
          <a:p>
            <a:pPr marL="0" indent="0">
              <a:buNone/>
            </a:pPr>
            <a:r>
              <a:rPr lang="en-US" sz="2800" dirty="0">
                <a:latin typeface="Aparajita" panose="020B0604020202020204" pitchFamily="34" charset="0"/>
                <a:cs typeface="Aparajita" panose="020B0604020202020204" pitchFamily="34" charset="0"/>
              </a:rPr>
              <a:t>A project component is a logical grouping of issues within a project. Each project may consist of various components (or none), depending on your </a:t>
            </a:r>
            <a:r>
              <a:rPr lang="en-US" sz="2800" dirty="0" smtClean="0">
                <a:latin typeface="Aparajita" panose="020B0604020202020204" pitchFamily="34" charset="0"/>
                <a:cs typeface="Aparajita" panose="020B0604020202020204" pitchFamily="34" charset="0"/>
              </a:rPr>
              <a:t>organization's </a:t>
            </a:r>
            <a:r>
              <a:rPr lang="en-US" sz="2800" dirty="0">
                <a:latin typeface="Aparajita" panose="020B0604020202020204" pitchFamily="34" charset="0"/>
                <a:cs typeface="Aparajita" panose="020B0604020202020204" pitchFamily="34" charset="0"/>
              </a:rPr>
              <a:t>needs.</a:t>
            </a:r>
          </a:p>
          <a:p>
            <a:pPr marL="0" indent="0">
              <a:buNone/>
            </a:pPr>
            <a:endParaRPr lang="en-US" sz="2800" dirty="0">
              <a:latin typeface="Aparajita" panose="020B0604020202020204" pitchFamily="34" charset="0"/>
              <a:cs typeface="Aparajita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211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-6505" t="-12286" r="-1784" b="-5005"/>
          <a:stretch/>
        </p:blipFill>
        <p:spPr>
          <a:xfrm>
            <a:off x="2668137" y="5508341"/>
            <a:ext cx="7042245" cy="1302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087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6097" y="624110"/>
            <a:ext cx="9648516" cy="128089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  What </a:t>
            </a:r>
            <a:r>
              <a:rPr lang="en-US" sz="4000" b="1" dirty="0"/>
              <a:t>is a version?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1128" y="1705970"/>
            <a:ext cx="10153484" cy="42052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a version?</a:t>
            </a:r>
          </a:p>
          <a:p>
            <a:pPr marL="0" indent="0">
              <a:buNone/>
            </a:pPr>
            <a:r>
              <a:rPr lang="en-US" dirty="0"/>
              <a:t>For some types of projects, particularly software development, it is useful to be able to associate an</a:t>
            </a:r>
          </a:p>
          <a:p>
            <a:pPr marL="0" indent="0">
              <a:buNone/>
            </a:pPr>
            <a:r>
              <a:rPr lang="en-US" dirty="0"/>
              <a:t>issue with a particular project </a:t>
            </a:r>
            <a:r>
              <a:rPr lang="en-US" i="1" dirty="0"/>
              <a:t>version </a:t>
            </a:r>
            <a:r>
              <a:rPr lang="en-US" dirty="0"/>
              <a:t>(e.g. 1.0 beta, 1.0, 1.2, 2.0).</a:t>
            </a:r>
          </a:p>
          <a:p>
            <a:pPr marL="0" indent="0">
              <a:buNone/>
            </a:pPr>
            <a:r>
              <a:rPr lang="en-US" dirty="0"/>
              <a:t>Issues have two fields that relate to versions: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Affects </a:t>
            </a:r>
            <a:r>
              <a:rPr lang="en-US" b="1" dirty="0" smtClean="0"/>
              <a:t>Version(s) - </a:t>
            </a:r>
            <a:r>
              <a:rPr lang="en-US" dirty="0"/>
              <a:t>- this is the version(s) in which the issue is manifesting. For instance, </a:t>
            </a:r>
            <a:r>
              <a:rPr lang="en-US" dirty="0" smtClean="0"/>
              <a:t>a software </a:t>
            </a:r>
            <a:r>
              <a:rPr lang="en-US" dirty="0"/>
              <a:t>bug might affect versions 1.1 and 1.2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Fix Version(s) </a:t>
            </a:r>
            <a:r>
              <a:rPr lang="en-US" dirty="0"/>
              <a:t>- this is the version(s) in which the issue was (or will be) fixed. For instance, </a:t>
            </a:r>
            <a:r>
              <a:rPr lang="en-US" dirty="0" smtClean="0"/>
              <a:t>the  bug </a:t>
            </a:r>
            <a:r>
              <a:rPr lang="en-US" dirty="0"/>
              <a:t>affecting versions 1.1 and 1.2 might be fixed in version 2.0. Note that issues which do </a:t>
            </a:r>
            <a:r>
              <a:rPr lang="en-US" dirty="0" smtClean="0"/>
              <a:t>not  have </a:t>
            </a:r>
            <a:r>
              <a:rPr lang="en-US" dirty="0"/>
              <a:t>a </a:t>
            </a:r>
            <a:r>
              <a:rPr lang="en-US" b="1" dirty="0"/>
              <a:t>Fix Version </a:t>
            </a:r>
            <a:r>
              <a:rPr lang="en-US" dirty="0"/>
              <a:t>are classified as 'Unscheduled', as shown in the screenshot above.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211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-6505" t="-12286" r="-1784" b="-5005"/>
          <a:stretch/>
        </p:blipFill>
        <p:spPr>
          <a:xfrm>
            <a:off x="2668137" y="5508341"/>
            <a:ext cx="7042245" cy="1302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05884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6221" y="624110"/>
            <a:ext cx="9498391" cy="1280890"/>
          </a:xfrm>
        </p:spPr>
        <p:txBody>
          <a:bodyPr>
            <a:normAutofit/>
          </a:bodyPr>
          <a:lstStyle/>
          <a:p>
            <a:r>
              <a:rPr lang="en-US" sz="4000" b="1" dirty="0"/>
              <a:t>What is a Workflow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4525" y="1473958"/>
            <a:ext cx="10440087" cy="4437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Aparajita" panose="020B0604020202020204" pitchFamily="34" charset="0"/>
                <a:cs typeface="Aparajita" panose="020B0604020202020204" pitchFamily="34" charset="0"/>
              </a:rPr>
              <a:t>Workflow</a:t>
            </a:r>
          </a:p>
          <a:p>
            <a:pPr marL="0" indent="0">
              <a:buNone/>
            </a:pPr>
            <a:r>
              <a:rPr lang="en-US" sz="2800" i="1" dirty="0">
                <a:latin typeface="Aparajita" panose="020B0604020202020204" pitchFamily="34" charset="0"/>
                <a:cs typeface="Aparajita" panose="020B0604020202020204" pitchFamily="34" charset="0"/>
              </a:rPr>
              <a:t>Workflow </a:t>
            </a:r>
            <a:r>
              <a:rPr lang="en-US" sz="2800" dirty="0">
                <a:latin typeface="Aparajita" panose="020B0604020202020204" pitchFamily="34" charset="0"/>
                <a:cs typeface="Aparajita" panose="020B0604020202020204" pitchFamily="34" charset="0"/>
              </a:rPr>
              <a:t>is the movement of an issue through various </a:t>
            </a:r>
            <a:r>
              <a:rPr lang="en-US" sz="2800" b="1" dirty="0">
                <a:latin typeface="Aparajita" panose="020B0604020202020204" pitchFamily="34" charset="0"/>
                <a:cs typeface="Aparajita" panose="020B0604020202020204" pitchFamily="34" charset="0"/>
              </a:rPr>
              <a:t>Statuses </a:t>
            </a:r>
            <a:r>
              <a:rPr lang="en-US" sz="2800" dirty="0">
                <a:latin typeface="Aparajita" panose="020B0604020202020204" pitchFamily="34" charset="0"/>
                <a:cs typeface="Aparajita" panose="020B0604020202020204" pitchFamily="34" charset="0"/>
              </a:rPr>
              <a:t>during its lifecycle.</a:t>
            </a:r>
          </a:p>
          <a:p>
            <a:pPr marL="0" indent="0">
              <a:buNone/>
            </a:pPr>
            <a:r>
              <a:rPr lang="en-US" sz="2800" dirty="0">
                <a:latin typeface="Aparajita" panose="020B0604020202020204" pitchFamily="34" charset="0"/>
                <a:cs typeface="Aparajita" panose="020B0604020202020204" pitchFamily="34" charset="0"/>
              </a:rPr>
              <a:t>JIRA's default workflow looks like this:</a:t>
            </a:r>
          </a:p>
          <a:p>
            <a:pPr marL="0" indent="0">
              <a:buNone/>
            </a:pPr>
            <a:endParaRPr lang="en-US" sz="2800" dirty="0">
              <a:latin typeface="Aparajita" panose="020B0604020202020204" pitchFamily="34" charset="0"/>
              <a:cs typeface="Aparajita" panose="020B0604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187" y="2529110"/>
            <a:ext cx="3691082" cy="3971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211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-6505" t="-12286" r="-1784" b="-5005"/>
          <a:stretch/>
        </p:blipFill>
        <p:spPr>
          <a:xfrm>
            <a:off x="394599" y="5555102"/>
            <a:ext cx="7042245" cy="1302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573578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813" y="624110"/>
            <a:ext cx="9443800" cy="1280890"/>
          </a:xfrm>
        </p:spPr>
        <p:txBody>
          <a:bodyPr>
            <a:noAutofit/>
          </a:bodyPr>
          <a:lstStyle/>
          <a:p>
            <a:r>
              <a:rPr lang="en-US" sz="4000" b="1" dirty="0"/>
              <a:t>Getting started, Hands On…</a:t>
            </a:r>
            <a:br>
              <a:rPr lang="en-US" sz="4000" b="1" dirty="0"/>
            </a:br>
            <a:endParaRPr lang="en-US" sz="4000" dirty="0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813" y="1692322"/>
            <a:ext cx="7977539" cy="4219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211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-6505" t="-12286" r="-1784" b="-5005"/>
          <a:stretch/>
        </p:blipFill>
        <p:spPr>
          <a:xfrm>
            <a:off x="2668137" y="5508341"/>
            <a:ext cx="7042245" cy="1302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503929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279" y="624110"/>
            <a:ext cx="9539334" cy="128089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Arial Black" panose="020B0A04020102020204" pitchFamily="34" charset="0"/>
              </a:rPr>
              <a:t>Register for Free Demo Today </a:t>
            </a:r>
            <a:endParaRPr lang="en-US" sz="40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379" y="2133600"/>
            <a:ext cx="9853233" cy="37776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 smtClean="0">
                <a:hlinkClick r:id="rId2"/>
              </a:rPr>
              <a:t>www.H2kinfosys.com</a:t>
            </a:r>
            <a:endParaRPr lang="en-US" sz="4000" b="1" dirty="0" smtClean="0"/>
          </a:p>
          <a:p>
            <a:pPr marL="0" indent="0" algn="ctr">
              <a:buNone/>
            </a:pPr>
            <a:r>
              <a:rPr lang="en-US" sz="4000" b="1" dirty="0" smtClean="0"/>
              <a:t>Email: </a:t>
            </a:r>
            <a:r>
              <a:rPr lang="en-US" sz="4000" b="1" dirty="0" smtClean="0">
                <a:hlinkClick r:id="rId3"/>
              </a:rPr>
              <a:t>Training@h2kinfosys.com</a:t>
            </a:r>
            <a:endParaRPr lang="en-US" sz="4000" b="1" dirty="0" smtClean="0"/>
          </a:p>
          <a:p>
            <a:pPr marL="0" indent="0" algn="ctr">
              <a:buNone/>
            </a:pPr>
            <a:r>
              <a:rPr lang="en-US" sz="4000" b="1" dirty="0" smtClean="0"/>
              <a:t>USA: +1-770-777-1269</a:t>
            </a:r>
          </a:p>
          <a:p>
            <a:pPr marL="0" indent="0" algn="ctr">
              <a:buNone/>
            </a:pPr>
            <a:r>
              <a:rPr lang="en-US" sz="4000" b="1" dirty="0" smtClean="0"/>
              <a:t>UK: 020-33717615 </a:t>
            </a:r>
            <a:endParaRPr lang="en-US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-6505" t="-12286" r="-1784" b="-5005"/>
          <a:stretch/>
        </p:blipFill>
        <p:spPr>
          <a:xfrm>
            <a:off x="2668137" y="5508341"/>
            <a:ext cx="7042245" cy="1302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549" y="0"/>
            <a:ext cx="1872451" cy="2198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530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</TotalTime>
  <Words>423</Words>
  <Application>Microsoft Office PowerPoint</Application>
  <PresentationFormat>Widescreen</PresentationFormat>
  <Paragraphs>57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Aharoni</vt:lpstr>
      <vt:lpstr>Aparajita</vt:lpstr>
      <vt:lpstr>Arial</vt:lpstr>
      <vt:lpstr>Arial Black</vt:lpstr>
      <vt:lpstr>Bookman Old Style</vt:lpstr>
      <vt:lpstr>Calibri</vt:lpstr>
      <vt:lpstr>Century Gothic</vt:lpstr>
      <vt:lpstr>Wingdings</vt:lpstr>
      <vt:lpstr>Wingdings 3</vt:lpstr>
      <vt:lpstr>Wisp</vt:lpstr>
      <vt:lpstr>      JIRA Introduction </vt:lpstr>
      <vt:lpstr>                    What is JIRA</vt:lpstr>
      <vt:lpstr>             JIRA Users</vt:lpstr>
      <vt:lpstr>Scope</vt:lpstr>
      <vt:lpstr>                Concepts</vt:lpstr>
      <vt:lpstr>   What is an Issue?</vt:lpstr>
      <vt:lpstr>What is an Issue type?</vt:lpstr>
      <vt:lpstr>What is an Issue Priority?</vt:lpstr>
      <vt:lpstr>What is an Issue Status?</vt:lpstr>
      <vt:lpstr>What is an Issue Resolution?</vt:lpstr>
      <vt:lpstr>What is Project?</vt:lpstr>
      <vt:lpstr>What is a component?</vt:lpstr>
      <vt:lpstr>  What is a version?</vt:lpstr>
      <vt:lpstr>What is a Workflow</vt:lpstr>
      <vt:lpstr>Getting started, Hands On… </vt:lpstr>
      <vt:lpstr>Register for Free Demo Today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JIRA Introduction </dc:title>
  <dc:creator>Mahesh@h2k</dc:creator>
  <cp:lastModifiedBy>Mahesh@h2k</cp:lastModifiedBy>
  <cp:revision>7</cp:revision>
  <dcterms:created xsi:type="dcterms:W3CDTF">2015-08-01T06:47:55Z</dcterms:created>
  <dcterms:modified xsi:type="dcterms:W3CDTF">2015-08-01T07:35:32Z</dcterms:modified>
</cp:coreProperties>
</file>