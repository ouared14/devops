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9" r:id="rId4"/>
    <p:sldId id="258" r:id="rId5"/>
    <p:sldId id="260" r:id="rId6"/>
    <p:sldId id="261" r:id="rId7"/>
    <p:sldId id="262" r:id="rId8"/>
    <p:sldId id="263" r:id="rId9"/>
    <p:sldId id="267" r:id="rId10"/>
    <p:sldId id="264" r:id="rId11"/>
    <p:sldId id="269" r:id="rId12"/>
    <p:sldId id="270" r:id="rId13"/>
    <p:sldId id="266" r:id="rId14"/>
    <p:sldId id="268" r:id="rId15"/>
    <p:sldId id="271"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8E00"/>
    <a:srgbClr val="DE7400"/>
    <a:srgbClr val="4E863A"/>
    <a:srgbClr val="6BA4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p:scale>
          <a:sx n="70" d="100"/>
          <a:sy n="70" d="100"/>
        </p:scale>
        <p:origin x="1410" y="1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5B8DFF-3B96-41A0-9B28-6E55A2E48E01}" type="datetimeFigureOut">
              <a:rPr lang="en-US" smtClean="0"/>
              <a:t>11/27/2016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DAC6CA-E053-4EC7-B801-A64BBB9841B3}" type="slidenum">
              <a:rPr lang="en-US" smtClean="0"/>
              <a:t>‹#›</a:t>
            </a:fld>
            <a:endParaRPr lang="en-US"/>
          </a:p>
        </p:txBody>
      </p:sp>
    </p:spTree>
    <p:extLst>
      <p:ext uri="{BB962C8B-B14F-4D97-AF65-F5344CB8AC3E}">
        <p14:creationId xmlns:p14="http://schemas.microsoft.com/office/powerpoint/2010/main" val="2932717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DAC6CA-E053-4EC7-B801-A64BBB9841B3}" type="slidenum">
              <a:rPr lang="en-US" smtClean="0"/>
              <a:t>3</a:t>
            </a:fld>
            <a:endParaRPr lang="en-US"/>
          </a:p>
        </p:txBody>
      </p:sp>
    </p:spTree>
    <p:extLst>
      <p:ext uri="{BB962C8B-B14F-4D97-AF65-F5344CB8AC3E}">
        <p14:creationId xmlns:p14="http://schemas.microsoft.com/office/powerpoint/2010/main" val="28632974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free-power-point-templates.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86200" y="2362200"/>
            <a:ext cx="5105400" cy="1066800"/>
          </a:xfrm>
        </p:spPr>
        <p:txBody>
          <a:bodyPr>
            <a:normAutofit/>
          </a:bodyPr>
          <a:lstStyle>
            <a:lvl1pPr algn="ctr">
              <a:defRPr sz="4400" baseline="0">
                <a:solidFill>
                  <a:schemeClr val="tx1">
                    <a:lumMod val="85000"/>
                    <a:lumOff val="15000"/>
                  </a:schemeClr>
                </a:solidFill>
              </a:defRPr>
            </a:lvl1pPr>
          </a:lstStyle>
          <a:p>
            <a:r>
              <a:rPr lang="en-US" dirty="0" smtClean="0"/>
              <a:t>Your Master Title</a:t>
            </a:r>
            <a:endParaRPr lang="en-US" dirty="0"/>
          </a:p>
        </p:txBody>
      </p:sp>
      <p:sp>
        <p:nvSpPr>
          <p:cNvPr id="3" name="Subtitle 2"/>
          <p:cNvSpPr>
            <a:spLocks noGrp="1"/>
          </p:cNvSpPr>
          <p:nvPr>
            <p:ph type="subTitle" idx="1"/>
          </p:nvPr>
        </p:nvSpPr>
        <p:spPr>
          <a:xfrm>
            <a:off x="3962400" y="3429000"/>
            <a:ext cx="4953000" cy="914400"/>
          </a:xfrm>
        </p:spPr>
        <p:txBody>
          <a:bodyPr>
            <a:normAutofit/>
          </a:bodyPr>
          <a:lstStyle>
            <a:lvl1pPr marL="0" indent="0" algn="ctr">
              <a:buNone/>
              <a:defRPr sz="2000">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48130"/>
            <a:ext cx="8229600" cy="1143000"/>
          </a:xfrm>
        </p:spPr>
        <p:txBody>
          <a:bodyPr>
            <a:normAutofit/>
          </a:bodyPr>
          <a:lstStyle>
            <a:lvl1pPr algn="l">
              <a:defRPr sz="3600">
                <a:solidFill>
                  <a:schemeClr val="tx1">
                    <a:lumMod val="85000"/>
                    <a:lumOff val="1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8965" y="1443835"/>
            <a:ext cx="8229600" cy="4525963"/>
          </a:xfrm>
        </p:spPr>
        <p:txBody>
          <a:bodyPr/>
          <a:lstStyle>
            <a:lvl1pPr>
              <a:defRPr sz="28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0" y="1295400"/>
            <a:ext cx="6710784" cy="1143000"/>
          </a:xfrm>
        </p:spPr>
        <p:txBody>
          <a:bodyPr>
            <a:normAutofit/>
          </a:bodyPr>
          <a:lstStyle>
            <a:lvl1pPr algn="l">
              <a:defRPr sz="3600">
                <a:solidFill>
                  <a:schemeClr val="tx1">
                    <a:lumMod val="85000"/>
                    <a:lumOff val="1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2438400" y="2464598"/>
            <a:ext cx="6710784" cy="4275740"/>
          </a:xfrm>
        </p:spPr>
        <p:txBody>
          <a:bodyPr/>
          <a:lstStyle>
            <a:lvl1pPr>
              <a:defRPr sz="28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48130"/>
            <a:ext cx="8229600" cy="1143000"/>
          </a:xfrm>
        </p:spPr>
        <p:txBody>
          <a:bodyPr>
            <a:normAutofit/>
          </a:bodyPr>
          <a:lstStyle>
            <a:lvl1pPr algn="l">
              <a:defRPr sz="360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443835"/>
            <a:ext cx="4040188" cy="639762"/>
          </a:xfrm>
        </p:spPr>
        <p:txBody>
          <a:bodyPr anchor="b"/>
          <a:lstStyle>
            <a:lvl1pPr marL="0" indent="0">
              <a:buNone/>
              <a:defRPr sz="2400" b="1">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073697"/>
            <a:ext cx="4040188" cy="3798583"/>
          </a:xfrm>
        </p:spPr>
        <p:txBody>
          <a:bodyPr/>
          <a:lstStyle>
            <a:lvl1pPr>
              <a:defRPr sz="2400">
                <a:solidFill>
                  <a:schemeClr val="tx1">
                    <a:lumMod val="75000"/>
                    <a:lumOff val="25000"/>
                  </a:schemeClr>
                </a:solidFill>
              </a:defRPr>
            </a:lvl1pPr>
            <a:lvl2pPr>
              <a:defRPr sz="2000">
                <a:solidFill>
                  <a:schemeClr val="tx1">
                    <a:lumMod val="75000"/>
                    <a:lumOff val="25000"/>
                  </a:schemeClr>
                </a:solidFill>
              </a:defRPr>
            </a:lvl2pPr>
            <a:lvl3pPr>
              <a:defRPr sz="18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443835"/>
            <a:ext cx="4041775" cy="639762"/>
          </a:xfrm>
        </p:spPr>
        <p:txBody>
          <a:bodyPr anchor="b"/>
          <a:lstStyle>
            <a:lvl1pPr marL="0" indent="0">
              <a:buNone/>
              <a:defRPr sz="2400" b="1">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073697"/>
            <a:ext cx="4041775" cy="3798583"/>
          </a:xfrm>
        </p:spPr>
        <p:txBody>
          <a:bodyPr/>
          <a:lstStyle>
            <a:lvl1pPr>
              <a:defRPr sz="2400">
                <a:solidFill>
                  <a:schemeClr val="tx1">
                    <a:lumMod val="75000"/>
                    <a:lumOff val="25000"/>
                  </a:schemeClr>
                </a:solidFill>
              </a:defRPr>
            </a:lvl1pPr>
            <a:lvl2pPr>
              <a:defRPr sz="2000">
                <a:solidFill>
                  <a:schemeClr val="tx1">
                    <a:lumMod val="75000"/>
                    <a:lumOff val="25000"/>
                  </a:schemeClr>
                </a:solidFill>
              </a:defRPr>
            </a:lvl2pPr>
            <a:lvl3pPr>
              <a:defRPr sz="18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solidFill>
                  <a:schemeClr val="tx1">
                    <a:lumMod val="75000"/>
                    <a:lumOff val="25000"/>
                  </a:schemeClr>
                </a:solidFill>
              </a:defRPr>
            </a:lvl1pPr>
            <a:lvl2pPr>
              <a:defRPr sz="2800">
                <a:solidFill>
                  <a:schemeClr val="tx1">
                    <a:lumMod val="75000"/>
                    <a:lumOff val="25000"/>
                  </a:schemeClr>
                </a:solidFill>
              </a:defRPr>
            </a:lvl2pPr>
            <a:lvl3pPr>
              <a:defRPr sz="24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solidFill>
                  <a:schemeClr val="tx1">
                    <a:lumMod val="75000"/>
                    <a:lumOff val="2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solidFill>
                  <a:schemeClr val="tx1">
                    <a:lumMod val="75000"/>
                    <a:lumOff val="2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hlinkClick r:id="rId2"/>
          </p:cNvPr>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1752600" y="2849092"/>
            <a:ext cx="1951712" cy="70261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11/27/2016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b="1" kern="1200">
          <a:solidFill>
            <a:schemeClr val="tx1">
              <a:lumMod val="85000"/>
              <a:lumOff val="15000"/>
            </a:schemeClr>
          </a:solidFill>
          <a:effectLst>
            <a:outerShdw blurRad="38100" dist="38100" dir="2700000" algn="tl">
              <a:srgbClr val="000000">
                <a:alpha val="43137"/>
              </a:srgbClr>
            </a:outerShdw>
          </a:effectLst>
          <a:latin typeface="Microsoft New Tai Lue" pitchFamily="34" charset="0"/>
          <a:ea typeface="Microsoft Himalaya" pitchFamily="2" charset="0"/>
          <a:cs typeface="Microsoft New Tai Lue" pitchFamily="34" charset="0"/>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lumMod val="75000"/>
              <a:lumOff val="25000"/>
            </a:schemeClr>
          </a:solidFill>
          <a:latin typeface="Microsoft New Tai Lue" pitchFamily="34" charset="0"/>
          <a:ea typeface="+mn-ea"/>
          <a:cs typeface="Microsoft New Tai Lue" pitchFamily="34" charset="0"/>
        </a:defRPr>
      </a:lvl1pPr>
      <a:lvl2pPr marL="742950" indent="-285750" algn="l" defTabSz="914400" rtl="0" eaLnBrk="1" latinLnBrk="0" hangingPunct="1">
        <a:spcBef>
          <a:spcPct val="20000"/>
        </a:spcBef>
        <a:buFont typeface="Arial" pitchFamily="34" charset="0"/>
        <a:buChar char="–"/>
        <a:defRPr sz="2400" kern="1200">
          <a:solidFill>
            <a:schemeClr val="tx1">
              <a:lumMod val="75000"/>
              <a:lumOff val="25000"/>
            </a:schemeClr>
          </a:solidFill>
          <a:latin typeface="Microsoft New Tai Lue" pitchFamily="34" charset="0"/>
          <a:ea typeface="+mn-ea"/>
          <a:cs typeface="Microsoft New Tai Lue" pitchFamily="34" charset="0"/>
        </a:defRPr>
      </a:lvl2pPr>
      <a:lvl3pPr marL="11430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Microsoft New Tai Lue" pitchFamily="34" charset="0"/>
          <a:ea typeface="+mn-ea"/>
          <a:cs typeface="Microsoft New Tai Lue" pitchFamily="34" charset="0"/>
        </a:defRPr>
      </a:lvl3pPr>
      <a:lvl4pPr marL="1600200" indent="-228600" algn="l" defTabSz="914400" rtl="0" eaLnBrk="1" latinLnBrk="0" hangingPunct="1">
        <a:spcBef>
          <a:spcPct val="20000"/>
        </a:spcBef>
        <a:buFont typeface="Arial" pitchFamily="34" charset="0"/>
        <a:buChar char="–"/>
        <a:defRPr sz="1800" kern="1200">
          <a:solidFill>
            <a:schemeClr val="tx1">
              <a:lumMod val="75000"/>
              <a:lumOff val="25000"/>
            </a:schemeClr>
          </a:solidFill>
          <a:latin typeface="Microsoft New Tai Lue" pitchFamily="34" charset="0"/>
          <a:ea typeface="+mn-ea"/>
          <a:cs typeface="Microsoft New Tai Lue" pitchFamily="34" charset="0"/>
        </a:defRPr>
      </a:lvl4pPr>
      <a:lvl5pPr marL="2057400" indent="-228600" algn="l" defTabSz="914400" rtl="0" eaLnBrk="1" latinLnBrk="0" hangingPunct="1">
        <a:spcBef>
          <a:spcPct val="20000"/>
        </a:spcBef>
        <a:buFont typeface="Arial" pitchFamily="34" charset="0"/>
        <a:buChar char="»"/>
        <a:defRPr sz="1800" kern="1200">
          <a:solidFill>
            <a:schemeClr val="tx1">
              <a:lumMod val="75000"/>
              <a:lumOff val="25000"/>
            </a:schemeClr>
          </a:solidFill>
          <a:latin typeface="Microsoft New Tai Lue" pitchFamily="34" charset="0"/>
          <a:ea typeface="+mn-ea"/>
          <a:cs typeface="Microsoft New Tai Lue"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free-power-point-template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confluence.atlassian.com/jira064/what-is-an-issue-720416138.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8000" dirty="0" smtClean="0"/>
              <a:t>JIRA</a:t>
            </a:r>
            <a:endParaRPr lang="en-US" sz="8000" dirty="0"/>
          </a:p>
        </p:txBody>
      </p:sp>
      <p:sp>
        <p:nvSpPr>
          <p:cNvPr id="3" name="Subtitle 2"/>
          <p:cNvSpPr>
            <a:spLocks noGrp="1"/>
          </p:cNvSpPr>
          <p:nvPr>
            <p:ph type="subTitle" idx="1"/>
          </p:nvPr>
        </p:nvSpPr>
        <p:spPr>
          <a:xfrm>
            <a:off x="4038600" y="3456904"/>
            <a:ext cx="4953000" cy="1419896"/>
          </a:xfrm>
        </p:spPr>
        <p:txBody>
          <a:bodyPr>
            <a:normAutofit fontScale="92500" lnSpcReduction="20000"/>
          </a:bodyPr>
          <a:lstStyle/>
          <a:p>
            <a:r>
              <a:rPr lang="en-US" sz="3200" dirty="0" smtClean="0"/>
              <a:t>Group Members:</a:t>
            </a:r>
            <a:endParaRPr lang="en-US" sz="3200" dirty="0"/>
          </a:p>
          <a:p>
            <a:pPr marL="342900" indent="-342900" algn="just">
              <a:buFont typeface="Arial" panose="020B0604020202020204" pitchFamily="34" charset="0"/>
              <a:buChar char="•"/>
            </a:pPr>
            <a:r>
              <a:rPr lang="en-US" dirty="0" smtClean="0"/>
              <a:t>Rozi Khan (29202)</a:t>
            </a:r>
          </a:p>
          <a:p>
            <a:pPr marL="342900" indent="-342900" algn="just">
              <a:buFont typeface="Arial" panose="020B0604020202020204" pitchFamily="34" charset="0"/>
              <a:buChar char="•"/>
            </a:pPr>
            <a:r>
              <a:rPr lang="en-US" dirty="0" smtClean="0"/>
              <a:t>Ahmed Ullah (29410)</a:t>
            </a:r>
          </a:p>
          <a:p>
            <a:pPr marL="342900" indent="-342900" algn="just">
              <a:buFont typeface="Arial" panose="020B0604020202020204" pitchFamily="34" charset="0"/>
              <a:buChar char="•"/>
            </a:pPr>
            <a:r>
              <a:rPr lang="en-US" dirty="0" smtClean="0"/>
              <a:t>Najib Ur Rehman (29991)</a:t>
            </a:r>
          </a:p>
        </p:txBody>
      </p:sp>
      <p:pic>
        <p:nvPicPr>
          <p:cNvPr id="5" name="Picture 4" descr="E:\websites\free-power-point-templates\2012\logos.png">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8646586" y="6629400"/>
            <a:ext cx="470520" cy="16938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20370"/>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75273" y="3962400"/>
            <a:ext cx="5175166" cy="2615184"/>
          </a:xfrm>
          <a:prstGeom prst="rect">
            <a:avLst/>
          </a:prstGeom>
          <a:ln>
            <a:noFill/>
          </a:ln>
          <a:effectLst>
            <a:softEdge rad="112500"/>
          </a:effectLst>
        </p:spPr>
      </p:pic>
      <p:sp>
        <p:nvSpPr>
          <p:cNvPr id="2" name="Title 1"/>
          <p:cNvSpPr>
            <a:spLocks noGrp="1"/>
          </p:cNvSpPr>
          <p:nvPr>
            <p:ph type="title"/>
          </p:nvPr>
        </p:nvSpPr>
        <p:spPr/>
        <p:txBody>
          <a:bodyPr/>
          <a:lstStyle/>
          <a:p>
            <a:pPr algn="l"/>
            <a:r>
              <a:rPr lang="en-US" dirty="0" smtClean="0"/>
              <a:t>What is JIRA</a:t>
            </a:r>
            <a:endParaRPr lang="en-US" dirty="0"/>
          </a:p>
        </p:txBody>
      </p:sp>
      <p:sp>
        <p:nvSpPr>
          <p:cNvPr id="3" name="Content Placeholder 2"/>
          <p:cNvSpPr>
            <a:spLocks noGrp="1"/>
          </p:cNvSpPr>
          <p:nvPr>
            <p:ph idx="1"/>
          </p:nvPr>
        </p:nvSpPr>
        <p:spPr/>
        <p:txBody>
          <a:bodyPr/>
          <a:lstStyle/>
          <a:p>
            <a:r>
              <a:rPr lang="en-US" dirty="0"/>
              <a:t>JIRA is a tool developed by Australian Company Atlassian</a:t>
            </a:r>
            <a:r>
              <a:rPr lang="en-US" dirty="0" smtClean="0"/>
              <a:t>.</a:t>
            </a:r>
          </a:p>
          <a:p>
            <a:r>
              <a:rPr lang="en-US" dirty="0" smtClean="0"/>
              <a:t>The word JIRA is derived from Japanese word “Gojira”, which means Godzilla.</a:t>
            </a:r>
          </a:p>
          <a:p>
            <a:r>
              <a:rPr lang="en-US" dirty="0" smtClean="0"/>
              <a:t>Godzilla is a kind of fictional name for a Monster or Dinosaur. </a:t>
            </a:r>
          </a:p>
          <a:p>
            <a:endParaRPr lang="en-US" dirty="0"/>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dirty="0" smtClean="0"/>
              <a:t>What JIRA is used for?</a:t>
            </a:r>
            <a:endParaRPr lang="en-US" dirty="0"/>
          </a:p>
        </p:txBody>
      </p:sp>
      <p:sp>
        <p:nvSpPr>
          <p:cNvPr id="5" name="Content Placeholder 4"/>
          <p:cNvSpPr>
            <a:spLocks noGrp="1"/>
          </p:cNvSpPr>
          <p:nvPr>
            <p:ph idx="1"/>
          </p:nvPr>
        </p:nvSpPr>
        <p:spPr>
          <a:xfrm>
            <a:off x="1524000" y="2429814"/>
            <a:ext cx="6710784" cy="4275740"/>
          </a:xfrm>
        </p:spPr>
        <p:txBody>
          <a:bodyPr>
            <a:normAutofit fontScale="92500" lnSpcReduction="10000"/>
          </a:bodyPr>
          <a:lstStyle/>
          <a:p>
            <a:r>
              <a:rPr lang="en-US" dirty="0" smtClean="0"/>
              <a:t>Bug Tracking</a:t>
            </a:r>
          </a:p>
          <a:p>
            <a:r>
              <a:rPr lang="en-US" dirty="0" smtClean="0"/>
              <a:t>Issue Tracking</a:t>
            </a:r>
          </a:p>
          <a:p>
            <a:r>
              <a:rPr lang="en-US" dirty="0" smtClean="0"/>
              <a:t>Project Management</a:t>
            </a:r>
          </a:p>
          <a:p>
            <a:endParaRPr lang="en-US" dirty="0"/>
          </a:p>
          <a:p>
            <a:pPr marL="0" indent="0" algn="just">
              <a:buNone/>
            </a:pPr>
            <a:r>
              <a:rPr lang="en-US" dirty="0"/>
              <a:t>The basic use of this tool is to track issues, and bugs related to your software and mobile apps. It is also used for project management. The JIRA dashboard consists of many useful functions and features which make handling of issues easy. </a:t>
            </a:r>
            <a:endParaRPr lang="en-US" dirty="0" smtClean="0"/>
          </a:p>
        </p:txBody>
      </p:sp>
    </p:spTree>
    <p:extLst>
      <p:ext uri="{BB962C8B-B14F-4D97-AF65-F5344CB8AC3E}">
        <p14:creationId xmlns:p14="http://schemas.microsoft.com/office/powerpoint/2010/main" val="11016338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dirty="0" smtClean="0"/>
              <a:t>Bug Tracking</a:t>
            </a:r>
            <a:endParaRPr lang="en-US" dirty="0"/>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3706816"/>
            <a:ext cx="2971800" cy="2971800"/>
          </a:xfrm>
          <a:prstGeom prst="rect">
            <a:avLst/>
          </a:prstGeom>
        </p:spPr>
      </p:pic>
      <p:sp>
        <p:nvSpPr>
          <p:cNvPr id="13" name="Content Placeholder 12"/>
          <p:cNvSpPr>
            <a:spLocks noGrp="1"/>
          </p:cNvSpPr>
          <p:nvPr>
            <p:ph idx="1"/>
          </p:nvPr>
        </p:nvSpPr>
        <p:spPr/>
        <p:txBody>
          <a:bodyPr/>
          <a:lstStyle/>
          <a:p>
            <a:pPr algn="just"/>
            <a:r>
              <a:rPr lang="en-US" dirty="0"/>
              <a:t>Bug tracking is a process used by quality assurance personnel and programmers to keep track of software problems and resolutions. A bug tracking system is normally put in place to store information about reported bugs.</a:t>
            </a:r>
          </a:p>
        </p:txBody>
      </p:sp>
    </p:spTree>
    <p:extLst>
      <p:ext uri="{BB962C8B-B14F-4D97-AF65-F5344CB8AC3E}">
        <p14:creationId xmlns:p14="http://schemas.microsoft.com/office/powerpoint/2010/main" val="41707837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dirty="0" smtClean="0"/>
              <a:t>Issue Tracking</a:t>
            </a:r>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6572" y="4267200"/>
            <a:ext cx="4609524" cy="2476190"/>
          </a:xfrm>
          <a:prstGeom prst="rect">
            <a:avLst/>
          </a:prstGeom>
        </p:spPr>
      </p:pic>
      <p:sp>
        <p:nvSpPr>
          <p:cNvPr id="13" name="Content Placeholder 12"/>
          <p:cNvSpPr>
            <a:spLocks noGrp="1"/>
          </p:cNvSpPr>
          <p:nvPr>
            <p:ph idx="1"/>
          </p:nvPr>
        </p:nvSpPr>
        <p:spPr/>
        <p:txBody>
          <a:bodyPr>
            <a:normAutofit/>
          </a:bodyPr>
          <a:lstStyle/>
          <a:p>
            <a:pPr algn="just"/>
            <a:r>
              <a:rPr lang="en-US" sz="2400" dirty="0"/>
              <a:t>Issue tracking or as some like to call it bug tracking is the process of tracking and documenting any issues or bug that relate to a project or product. Although this process will usually take place during the development stage of a product, issue tracking is an ongoing process and as new issues and bugs arise they may also be documented</a:t>
            </a:r>
            <a:r>
              <a:rPr lang="en-US" sz="2400" dirty="0" smtClean="0"/>
              <a:t>.</a:t>
            </a:r>
          </a:p>
          <a:p>
            <a:pPr algn="just"/>
            <a:r>
              <a:rPr lang="en-US" sz="2400" dirty="0"/>
              <a:t>Issue tracking is more of a general term and refers to the process of tracking issues that relate to any type of project. Bug tracking on the other hand tends to refer to the process of tracking issues and "bugs" within software.</a:t>
            </a:r>
          </a:p>
        </p:txBody>
      </p:sp>
    </p:spTree>
    <p:extLst>
      <p:ext uri="{BB962C8B-B14F-4D97-AF65-F5344CB8AC3E}">
        <p14:creationId xmlns:p14="http://schemas.microsoft.com/office/powerpoint/2010/main" val="6993151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dirty="0" smtClean="0"/>
              <a:t>Project Management</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3078453"/>
            <a:ext cx="4762500" cy="3762375"/>
          </a:xfrm>
          <a:prstGeom prst="rect">
            <a:avLst/>
          </a:prstGeom>
        </p:spPr>
      </p:pic>
      <p:sp>
        <p:nvSpPr>
          <p:cNvPr id="13" name="Content Placeholder 12"/>
          <p:cNvSpPr>
            <a:spLocks noGrp="1"/>
          </p:cNvSpPr>
          <p:nvPr>
            <p:ph idx="1"/>
          </p:nvPr>
        </p:nvSpPr>
        <p:spPr/>
        <p:txBody>
          <a:bodyPr>
            <a:normAutofit/>
          </a:bodyPr>
          <a:lstStyle/>
          <a:p>
            <a:pPr algn="just"/>
            <a:r>
              <a:rPr lang="en-US" sz="2400" dirty="0"/>
              <a:t>Project </a:t>
            </a:r>
            <a:r>
              <a:rPr lang="en-US" sz="2400" dirty="0" smtClean="0"/>
              <a:t>management is </a:t>
            </a:r>
            <a:r>
              <a:rPr lang="en-US" sz="2400" dirty="0"/>
              <a:t>the discipline of using established principles, procedures and policies to manage a project from conception through completion. </a:t>
            </a:r>
            <a:r>
              <a:rPr lang="en-US" sz="2400" dirty="0" smtClean="0"/>
              <a:t>It	is often </a:t>
            </a:r>
            <a:r>
              <a:rPr lang="en-US" sz="2400" dirty="0"/>
              <a:t>abbreviated as PM</a:t>
            </a:r>
            <a:r>
              <a:rPr lang="en-US" sz="2400" dirty="0" smtClean="0"/>
              <a:t>.</a:t>
            </a:r>
            <a:r>
              <a:rPr lang="en-US" sz="2400" dirty="0"/>
              <a:t/>
            </a:r>
            <a:br>
              <a:rPr lang="en-US" sz="2400" dirty="0"/>
            </a:br>
            <a:endParaRPr lang="en-US" sz="2400" dirty="0"/>
          </a:p>
        </p:txBody>
      </p:sp>
    </p:spTree>
    <p:extLst>
      <p:ext uri="{BB962C8B-B14F-4D97-AF65-F5344CB8AC3E}">
        <p14:creationId xmlns:p14="http://schemas.microsoft.com/office/powerpoint/2010/main" val="25501990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196" y="0"/>
            <a:ext cx="9111803" cy="6858000"/>
          </a:xfrm>
          <a:prstGeom prst="rect">
            <a:avLst/>
          </a:prstGeom>
        </p:spPr>
      </p:pic>
    </p:spTree>
    <p:extLst>
      <p:ext uri="{BB962C8B-B14F-4D97-AF65-F5344CB8AC3E}">
        <p14:creationId xmlns:p14="http://schemas.microsoft.com/office/powerpoint/2010/main" val="32519344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rPr>
              <a:t>Basic concepts in JIRA</a:t>
            </a:r>
            <a:endParaRPr lang="en-US" dirty="0">
              <a:effectLst/>
            </a:endParaRPr>
          </a:p>
        </p:txBody>
      </p:sp>
      <p:sp>
        <p:nvSpPr>
          <p:cNvPr id="13" name="Content Placeholder 12"/>
          <p:cNvSpPr>
            <a:spLocks noGrp="1"/>
          </p:cNvSpPr>
          <p:nvPr>
            <p:ph idx="1"/>
          </p:nvPr>
        </p:nvSpPr>
        <p:spPr/>
        <p:txBody>
          <a:bodyPr>
            <a:normAutofit/>
          </a:bodyPr>
          <a:lstStyle/>
          <a:p>
            <a:r>
              <a:rPr lang="en-US" sz="2400" dirty="0" smtClean="0"/>
              <a:t>Proje</a:t>
            </a:r>
            <a:r>
              <a:rPr lang="en-US" sz="2400" dirty="0" smtClean="0"/>
              <a:t>ct</a:t>
            </a:r>
          </a:p>
          <a:p>
            <a:r>
              <a:rPr lang="en-US" sz="2400" dirty="0" smtClean="0"/>
              <a:t>Issue</a:t>
            </a:r>
          </a:p>
          <a:p>
            <a:r>
              <a:rPr lang="en-US" sz="2400" dirty="0" smtClean="0"/>
              <a:t>Workflow</a:t>
            </a:r>
            <a:endParaRPr lang="en-US" sz="2400" dirty="0" smtClean="0"/>
          </a:p>
          <a:p>
            <a:pPr marL="0" indent="0">
              <a:buNone/>
            </a:pPr>
            <a:r>
              <a:rPr lang="en-US" sz="2400" dirty="0"/>
              <a:t/>
            </a:r>
            <a:br>
              <a:rPr lang="en-US" sz="2400" dirty="0"/>
            </a:br>
            <a:endParaRPr lang="en-US" sz="2400" dirty="0"/>
          </a:p>
        </p:txBody>
      </p:sp>
    </p:spTree>
    <p:extLst>
      <p:ext uri="{BB962C8B-B14F-4D97-AF65-F5344CB8AC3E}">
        <p14:creationId xmlns:p14="http://schemas.microsoft.com/office/powerpoint/2010/main" val="36004226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rPr>
              <a:t>What is JIRA Project?</a:t>
            </a:r>
            <a:endParaRPr lang="en-US" dirty="0">
              <a:effectLst/>
            </a:endParaRPr>
          </a:p>
        </p:txBody>
      </p:sp>
      <p:sp>
        <p:nvSpPr>
          <p:cNvPr id="13" name="Content Placeholder 12"/>
          <p:cNvSpPr>
            <a:spLocks noGrp="1"/>
          </p:cNvSpPr>
          <p:nvPr>
            <p:ph idx="1"/>
          </p:nvPr>
        </p:nvSpPr>
        <p:spPr/>
        <p:txBody>
          <a:bodyPr>
            <a:normAutofit/>
          </a:bodyPr>
          <a:lstStyle/>
          <a:p>
            <a:r>
              <a:rPr lang="en-US" sz="2400" dirty="0"/>
              <a:t>A JIRA project is a collection of </a:t>
            </a:r>
            <a:r>
              <a:rPr lang="en-US" sz="2400" dirty="0">
                <a:solidFill>
                  <a:schemeClr val="tx1"/>
                </a:solidFill>
                <a:hlinkClick r:id="rId2"/>
              </a:rPr>
              <a:t>issues</a:t>
            </a:r>
            <a:r>
              <a:rPr lang="en-US" sz="2400" dirty="0"/>
              <a:t>, and is defined according to your </a:t>
            </a:r>
            <a:r>
              <a:rPr lang="en-US" sz="2400" dirty="0" smtClean="0"/>
              <a:t>organization's </a:t>
            </a:r>
            <a:r>
              <a:rPr lang="en-US" sz="2400" dirty="0"/>
              <a:t>requirements. For example, a JIRA project could be:</a:t>
            </a:r>
          </a:p>
          <a:p>
            <a:r>
              <a:rPr lang="en-US" sz="2400" dirty="0"/>
              <a:t>a software development project</a:t>
            </a:r>
          </a:p>
          <a:p>
            <a:r>
              <a:rPr lang="en-US" sz="2400" dirty="0"/>
              <a:t>a marketing campaign</a:t>
            </a:r>
          </a:p>
          <a:p>
            <a:r>
              <a:rPr lang="en-US" sz="2400" dirty="0"/>
              <a:t>a helpdesk system</a:t>
            </a:r>
          </a:p>
          <a:p>
            <a:r>
              <a:rPr lang="en-US" sz="2400" dirty="0"/>
              <a:t>a leave request management system</a:t>
            </a:r>
          </a:p>
          <a:p>
            <a:r>
              <a:rPr lang="en-US" sz="2400" dirty="0"/>
              <a:t>a website enhancement request system</a:t>
            </a:r>
          </a:p>
        </p:txBody>
      </p:sp>
    </p:spTree>
    <p:extLst>
      <p:ext uri="{BB962C8B-B14F-4D97-AF65-F5344CB8AC3E}">
        <p14:creationId xmlns:p14="http://schemas.microsoft.com/office/powerpoint/2010/main" val="8673219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rPr>
              <a:t>What is JIRA Issues?</a:t>
            </a:r>
            <a:endParaRPr lang="en-US" dirty="0">
              <a:effectLst/>
            </a:endParaRPr>
          </a:p>
        </p:txBody>
      </p:sp>
      <p:sp>
        <p:nvSpPr>
          <p:cNvPr id="13" name="Content Placeholder 12"/>
          <p:cNvSpPr>
            <a:spLocks noGrp="1"/>
          </p:cNvSpPr>
          <p:nvPr>
            <p:ph idx="1"/>
          </p:nvPr>
        </p:nvSpPr>
        <p:spPr/>
        <p:txBody>
          <a:bodyPr>
            <a:normAutofit/>
          </a:bodyPr>
          <a:lstStyle/>
          <a:p>
            <a:pPr algn="just"/>
            <a:r>
              <a:rPr lang="en-US" sz="2400" dirty="0"/>
              <a:t>JIRA issue would track bug or issue that underlies the project. Once you have imported project then you can </a:t>
            </a:r>
            <a:r>
              <a:rPr lang="en-US" sz="2400" dirty="0" smtClean="0"/>
              <a:t>create issues</a:t>
            </a:r>
            <a:r>
              <a:rPr lang="en-US" sz="2400" dirty="0"/>
              <a:t>.     </a:t>
            </a:r>
            <a:br>
              <a:rPr lang="en-US" sz="2400" dirty="0"/>
            </a:br>
            <a:endParaRPr lang="en-US"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2641575"/>
            <a:ext cx="5730240" cy="3360420"/>
          </a:xfrm>
          <a:prstGeom prst="rect">
            <a:avLst/>
          </a:prstGeom>
        </p:spPr>
      </p:pic>
    </p:spTree>
    <p:extLst>
      <p:ext uri="{BB962C8B-B14F-4D97-AF65-F5344CB8AC3E}">
        <p14:creationId xmlns:p14="http://schemas.microsoft.com/office/powerpoint/2010/main" val="13720586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rPr>
              <a:t>JIRA Issue Types</a:t>
            </a:r>
            <a:endParaRPr lang="en-US" dirty="0">
              <a:effectLst/>
            </a:endParaRPr>
          </a:p>
        </p:txBody>
      </p:sp>
      <p:sp>
        <p:nvSpPr>
          <p:cNvPr id="13" name="Content Placeholder 12"/>
          <p:cNvSpPr>
            <a:spLocks noGrp="1"/>
          </p:cNvSpPr>
          <p:nvPr>
            <p:ph idx="1"/>
          </p:nvPr>
        </p:nvSpPr>
        <p:spPr>
          <a:xfrm>
            <a:off x="457200" y="990600"/>
            <a:ext cx="8229600" cy="4525963"/>
          </a:xfrm>
        </p:spPr>
        <p:txBody>
          <a:bodyPr>
            <a:normAutofit/>
          </a:bodyPr>
          <a:lstStyle/>
          <a:p>
            <a:pPr algn="just"/>
            <a:r>
              <a:rPr lang="en-US" sz="2400" dirty="0"/>
              <a:t>JIRA can be used to track many different types of issues. The default types are listed below, but please note that your JIRA administrator may have customized this list to suit your organization</a:t>
            </a:r>
            <a:endParaRPr lang="en-US" sz="24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58" y="2590800"/>
            <a:ext cx="8980412" cy="2090859"/>
          </a:xfrm>
          <a:prstGeom prst="rect">
            <a:avLst/>
          </a:prstGeom>
          <a:ln>
            <a:noFill/>
          </a:ln>
          <a:effectLst>
            <a:softEdge rad="112500"/>
          </a:effectLst>
        </p:spPr>
      </p:pic>
    </p:spTree>
    <p:extLst>
      <p:ext uri="{BB962C8B-B14F-4D97-AF65-F5344CB8AC3E}">
        <p14:creationId xmlns:p14="http://schemas.microsoft.com/office/powerpoint/2010/main" val="4404619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rPr>
              <a:t>Issue Priority</a:t>
            </a:r>
            <a:endParaRPr lang="en-US" dirty="0">
              <a:effectLst/>
            </a:endParaRPr>
          </a:p>
        </p:txBody>
      </p:sp>
      <p:sp>
        <p:nvSpPr>
          <p:cNvPr id="13" name="Content Placeholder 12"/>
          <p:cNvSpPr>
            <a:spLocks noGrp="1"/>
          </p:cNvSpPr>
          <p:nvPr>
            <p:ph idx="1"/>
          </p:nvPr>
        </p:nvSpPr>
        <p:spPr>
          <a:xfrm>
            <a:off x="457200" y="990601"/>
            <a:ext cx="8229600" cy="1600200"/>
          </a:xfrm>
        </p:spPr>
        <p:txBody>
          <a:bodyPr>
            <a:normAutofit/>
          </a:bodyPr>
          <a:lstStyle/>
          <a:p>
            <a:pPr algn="just"/>
            <a:r>
              <a:rPr lang="en-US" sz="2400" dirty="0">
                <a:latin typeface="Arial" panose="020B0604020202020204" pitchFamily="34" charset="0"/>
                <a:cs typeface="Arial" panose="020B0604020202020204" pitchFamily="34" charset="0"/>
              </a:rPr>
              <a:t>An issue's priority indicates its relative importance. The default priorities are listed below; note that both the priorities and their meanings can be customized by your JIRA administrator to suit your organization.</a:t>
            </a:r>
            <a:endParaRPr lang="en-US" sz="2400" b="1" dirty="0">
              <a:latin typeface="Arial" panose="020B0604020202020204" pitchFamily="34" charset="0"/>
              <a:cs typeface="Arial" panose="020B0604020202020204" pitchFamily="34" charset="0"/>
            </a:endParaRPr>
          </a:p>
        </p:txBody>
      </p:sp>
      <p:sp>
        <p:nvSpPr>
          <p:cNvPr id="5" name="Content Placeholder 12"/>
          <p:cNvSpPr txBox="1">
            <a:spLocks/>
          </p:cNvSpPr>
          <p:nvPr/>
        </p:nvSpPr>
        <p:spPr>
          <a:xfrm>
            <a:off x="609600" y="2743200"/>
            <a:ext cx="8229600" cy="1600200"/>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2800" kern="1200">
                <a:solidFill>
                  <a:schemeClr val="tx1">
                    <a:lumMod val="75000"/>
                    <a:lumOff val="25000"/>
                  </a:schemeClr>
                </a:solidFill>
                <a:latin typeface="Microsoft New Tai Lue" pitchFamily="34" charset="0"/>
                <a:ea typeface="+mn-ea"/>
                <a:cs typeface="Microsoft New Tai Lue" pitchFamily="34" charset="0"/>
              </a:defRPr>
            </a:lvl1pPr>
            <a:lvl2pPr marL="742950" indent="-285750" algn="l" defTabSz="914400" rtl="0" eaLnBrk="1" latinLnBrk="0" hangingPunct="1">
              <a:spcBef>
                <a:spcPct val="20000"/>
              </a:spcBef>
              <a:buFont typeface="Arial" pitchFamily="34" charset="0"/>
              <a:buChar char="–"/>
              <a:defRPr sz="2400" kern="1200">
                <a:solidFill>
                  <a:schemeClr val="tx1">
                    <a:lumMod val="75000"/>
                    <a:lumOff val="25000"/>
                  </a:schemeClr>
                </a:solidFill>
                <a:latin typeface="Microsoft New Tai Lue" pitchFamily="34" charset="0"/>
                <a:ea typeface="+mn-ea"/>
                <a:cs typeface="Microsoft New Tai Lue" pitchFamily="34" charset="0"/>
              </a:defRPr>
            </a:lvl2pPr>
            <a:lvl3pPr marL="11430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Microsoft New Tai Lue" pitchFamily="34" charset="0"/>
                <a:ea typeface="+mn-ea"/>
                <a:cs typeface="Microsoft New Tai Lue" pitchFamily="34" charset="0"/>
              </a:defRPr>
            </a:lvl3pPr>
            <a:lvl4pPr marL="1600200" indent="-228600" algn="l" defTabSz="914400" rtl="0" eaLnBrk="1" latinLnBrk="0" hangingPunct="1">
              <a:spcBef>
                <a:spcPct val="20000"/>
              </a:spcBef>
              <a:buFont typeface="Arial" pitchFamily="34" charset="0"/>
              <a:buChar char="–"/>
              <a:defRPr sz="1800" kern="1200">
                <a:solidFill>
                  <a:schemeClr val="tx1">
                    <a:lumMod val="75000"/>
                    <a:lumOff val="25000"/>
                  </a:schemeClr>
                </a:solidFill>
                <a:latin typeface="Microsoft New Tai Lue" pitchFamily="34" charset="0"/>
                <a:ea typeface="+mn-ea"/>
                <a:cs typeface="Microsoft New Tai Lue" pitchFamily="34" charset="0"/>
              </a:defRPr>
            </a:lvl4pPr>
            <a:lvl5pPr marL="2057400" indent="-228600" algn="l" defTabSz="914400" rtl="0" eaLnBrk="1" latinLnBrk="0" hangingPunct="1">
              <a:spcBef>
                <a:spcPct val="20000"/>
              </a:spcBef>
              <a:buFont typeface="Arial" pitchFamily="34" charset="0"/>
              <a:buChar char="»"/>
              <a:defRPr sz="1800" kern="1200">
                <a:solidFill>
                  <a:schemeClr val="tx1">
                    <a:lumMod val="75000"/>
                    <a:lumOff val="25000"/>
                  </a:schemeClr>
                </a:solidFill>
                <a:latin typeface="Microsoft New Tai Lue" pitchFamily="34" charset="0"/>
                <a:ea typeface="+mn-ea"/>
                <a:cs typeface="Microsoft New Tai Lue"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1" dirty="0"/>
              <a:t>Highest</a:t>
            </a:r>
            <a:r>
              <a:rPr lang="en-US" sz="2400" dirty="0"/>
              <a:t> — Highest priority. This problem will block progress.</a:t>
            </a:r>
            <a:br>
              <a:rPr lang="en-US" sz="2400" dirty="0"/>
            </a:br>
            <a:r>
              <a:rPr lang="en-US" sz="2400" b="1" dirty="0"/>
              <a:t>High</a:t>
            </a:r>
            <a:r>
              <a:rPr lang="en-US" sz="2400" dirty="0"/>
              <a:t> — Indicates that this issue is causing a problem and requires urgent attention.</a:t>
            </a:r>
            <a:br>
              <a:rPr lang="en-US" sz="2400" dirty="0"/>
            </a:br>
            <a:r>
              <a:rPr lang="en-US" sz="2400" b="1" dirty="0"/>
              <a:t>Medium</a:t>
            </a:r>
            <a:r>
              <a:rPr lang="en-US" sz="2400" dirty="0"/>
              <a:t> — Indicates that this issue has a significant impact.</a:t>
            </a:r>
            <a:br>
              <a:rPr lang="en-US" sz="2400" dirty="0"/>
            </a:br>
            <a:r>
              <a:rPr lang="en-US" sz="2400" b="1" dirty="0"/>
              <a:t>Low</a:t>
            </a:r>
            <a:r>
              <a:rPr lang="en-US" sz="2400" dirty="0"/>
              <a:t> — Indicates that this issue has a relatively minor impact.</a:t>
            </a:r>
            <a:br>
              <a:rPr lang="en-US" sz="2400" dirty="0"/>
            </a:br>
            <a:r>
              <a:rPr lang="en-US" sz="2400" b="1" dirty="0"/>
              <a:t>Lowest</a:t>
            </a:r>
            <a:r>
              <a:rPr lang="en-US" sz="2400" dirty="0"/>
              <a:t> — Lowest priority.</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4929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48130"/>
            <a:ext cx="8229600" cy="1143000"/>
          </a:xfrm>
        </p:spPr>
        <p:txBody>
          <a:bodyPr/>
          <a:lstStyle/>
          <a:p>
            <a:r>
              <a:rPr lang="en-US" dirty="0" smtClean="0"/>
              <a:t>JIRA Workflow</a:t>
            </a:r>
            <a:endParaRPr lang="en-US" dirty="0"/>
          </a:p>
        </p:txBody>
      </p:sp>
      <p:sp>
        <p:nvSpPr>
          <p:cNvPr id="4" name="TextBox 3"/>
          <p:cNvSpPr txBox="1"/>
          <p:nvPr/>
        </p:nvSpPr>
        <p:spPr>
          <a:xfrm>
            <a:off x="762000" y="1291130"/>
            <a:ext cx="7924800" cy="3539430"/>
          </a:xfrm>
          <a:prstGeom prst="rect">
            <a:avLst/>
          </a:prstGeom>
          <a:noFill/>
          <a:ln>
            <a:noFill/>
          </a:ln>
        </p:spPr>
        <p:txBody>
          <a:bodyPr wrap="square" rtlCol="0">
            <a:spAutoFit/>
          </a:bodyPr>
          <a:lstStyle/>
          <a:p>
            <a:pPr marL="285750" indent="-285750" algn="just">
              <a:buFont typeface="Arial" panose="020B0604020202020204" pitchFamily="34" charset="0"/>
              <a:buChar char="•"/>
            </a:pPr>
            <a:r>
              <a:rPr lang="en-US" sz="2800" dirty="0">
                <a:latin typeface="Arial" panose="020B0604020202020204" pitchFamily="34" charset="0"/>
                <a:cs typeface="Arial" panose="020B0604020202020204" pitchFamily="34" charset="0"/>
              </a:rPr>
              <a:t>A JIRA workflow is a set of </a:t>
            </a:r>
            <a:r>
              <a:rPr lang="en-US" sz="2800" i="1" dirty="0">
                <a:latin typeface="Arial" panose="020B0604020202020204" pitchFamily="34" charset="0"/>
                <a:cs typeface="Arial" panose="020B0604020202020204" pitchFamily="34" charset="0"/>
              </a:rPr>
              <a:t>statuses</a:t>
            </a:r>
            <a:r>
              <a:rPr lang="en-US" sz="2800" dirty="0">
                <a:latin typeface="Arial" panose="020B0604020202020204" pitchFamily="34" charset="0"/>
                <a:cs typeface="Arial" panose="020B0604020202020204" pitchFamily="34" charset="0"/>
              </a:rPr>
              <a:t> and </a:t>
            </a:r>
            <a:r>
              <a:rPr lang="en-US" sz="2800" i="1" dirty="0">
                <a:latin typeface="Arial" panose="020B0604020202020204" pitchFamily="34" charset="0"/>
                <a:cs typeface="Arial" panose="020B0604020202020204" pitchFamily="34" charset="0"/>
              </a:rPr>
              <a:t>transitions</a:t>
            </a:r>
            <a:r>
              <a:rPr lang="en-US" sz="2800" dirty="0">
                <a:latin typeface="Arial" panose="020B0604020202020204" pitchFamily="34" charset="0"/>
                <a:cs typeface="Arial" panose="020B0604020202020204" pitchFamily="34" charset="0"/>
              </a:rPr>
              <a:t> that an issue moves through during its lifecycle and typically represents processes within your organization. There are default built-in workflows that cannot be edited; however, you can copy and use these workflows to create your own.</a:t>
            </a:r>
          </a:p>
          <a:p>
            <a:pPr marL="285750" indent="-285750" algn="just">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20000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 y="1"/>
            <a:ext cx="9144000" cy="6858000"/>
          </a:xfrm>
          <a:prstGeom prst="rect">
            <a:avLst/>
          </a:prstGeom>
        </p:spPr>
      </p:pic>
      <p:sp>
        <p:nvSpPr>
          <p:cNvPr id="2" name="Title 1"/>
          <p:cNvSpPr>
            <a:spLocks noGrp="1"/>
          </p:cNvSpPr>
          <p:nvPr>
            <p:ph type="title"/>
          </p:nvPr>
        </p:nvSpPr>
        <p:spPr>
          <a:xfrm>
            <a:off x="2286000" y="1"/>
            <a:ext cx="3886200" cy="1143000"/>
          </a:xfrm>
        </p:spPr>
        <p:txBody>
          <a:bodyPr/>
          <a:lstStyle/>
          <a:p>
            <a:r>
              <a:rPr lang="en-US" dirty="0" smtClean="0"/>
              <a:t>JIRA Workflow</a:t>
            </a:r>
            <a:endParaRPr lang="en-US" dirty="0"/>
          </a:p>
        </p:txBody>
      </p:sp>
    </p:spTree>
    <p:extLst>
      <p:ext uri="{BB962C8B-B14F-4D97-AF65-F5344CB8AC3E}">
        <p14:creationId xmlns:p14="http://schemas.microsoft.com/office/powerpoint/2010/main" val="38462051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48130"/>
            <a:ext cx="8229600" cy="1143000"/>
          </a:xfrm>
        </p:spPr>
        <p:txBody>
          <a:bodyPr>
            <a:normAutofit/>
          </a:bodyPr>
          <a:lstStyle/>
          <a:p>
            <a:r>
              <a:rPr lang="en-US" dirty="0" smtClean="0"/>
              <a:t>Workflow</a:t>
            </a:r>
            <a:endParaRPr lang="en-US" dirty="0"/>
          </a:p>
        </p:txBody>
      </p:sp>
      <p:sp>
        <p:nvSpPr>
          <p:cNvPr id="4" name="TextBox 3"/>
          <p:cNvSpPr txBox="1"/>
          <p:nvPr/>
        </p:nvSpPr>
        <p:spPr>
          <a:xfrm>
            <a:off x="381000" y="990600"/>
            <a:ext cx="8534400" cy="5262979"/>
          </a:xfrm>
          <a:prstGeom prst="rect">
            <a:avLst/>
          </a:prstGeom>
          <a:noFill/>
          <a:ln>
            <a:noFill/>
          </a:ln>
        </p:spPr>
        <p:txBody>
          <a:bodyPr wrap="square" rtlCol="0">
            <a:spAutoFit/>
          </a:bodyPr>
          <a:lstStyle/>
          <a:p>
            <a:pPr algn="just"/>
            <a:r>
              <a:rPr lang="en-US" sz="2400" dirty="0"/>
              <a:t>While workflow in JIRA comprises of</a:t>
            </a:r>
            <a:r>
              <a:rPr lang="en-US" sz="2400" b="1" dirty="0"/>
              <a:t> Statuses, assignee, resolution, conditions, validators, post-function's and properties </a:t>
            </a:r>
            <a:endParaRPr lang="en-US" sz="2400" dirty="0"/>
          </a:p>
          <a:p>
            <a:pPr algn="just"/>
            <a:r>
              <a:rPr lang="en-US" sz="2400" b="1" dirty="0"/>
              <a:t>Statuses: </a:t>
            </a:r>
            <a:r>
              <a:rPr lang="en-US" sz="2400" dirty="0"/>
              <a:t>It represents the positions of the issues within a </a:t>
            </a:r>
            <a:r>
              <a:rPr lang="en-US" sz="2400" dirty="0" smtClean="0"/>
              <a:t>workflow.</a:t>
            </a:r>
            <a:endParaRPr lang="en-US" sz="2400" dirty="0"/>
          </a:p>
          <a:p>
            <a:pPr algn="just"/>
            <a:r>
              <a:rPr lang="en-US" sz="2400" b="1" dirty="0"/>
              <a:t>Transitions: </a:t>
            </a:r>
            <a:r>
              <a:rPr lang="en-US" sz="2400" dirty="0"/>
              <a:t>Transitions are the bridges between statuses, the way a particular issue moves from one status to another </a:t>
            </a:r>
          </a:p>
          <a:p>
            <a:pPr algn="just"/>
            <a:r>
              <a:rPr lang="en-US" sz="2400" b="1" dirty="0"/>
              <a:t>Assignee: </a:t>
            </a:r>
            <a:r>
              <a:rPr lang="en-US" sz="2400" dirty="0"/>
              <a:t>The assignee dictates the responsible party for any given issue and determines how the task would be executed </a:t>
            </a:r>
          </a:p>
          <a:p>
            <a:pPr algn="just"/>
            <a:r>
              <a:rPr lang="en-US" sz="2400" b="1" dirty="0"/>
              <a:t>Resolution: </a:t>
            </a:r>
            <a:r>
              <a:rPr lang="en-US" sz="2400" dirty="0"/>
              <a:t>It explains why an issue transitions from an open status to a closed one </a:t>
            </a:r>
          </a:p>
          <a:p>
            <a:pPr algn="just"/>
            <a:r>
              <a:rPr lang="en-US" sz="2400" b="1" dirty="0"/>
              <a:t>Conditions: </a:t>
            </a:r>
            <a:r>
              <a:rPr lang="en-US" sz="2400" dirty="0"/>
              <a:t>Conditions control who can perform a transition </a:t>
            </a:r>
          </a:p>
          <a:p>
            <a:pPr algn="just"/>
            <a:r>
              <a:rPr lang="en-US" sz="2400" b="1" dirty="0"/>
              <a:t>Validators: </a:t>
            </a:r>
            <a:r>
              <a:rPr lang="en-US" sz="2400" dirty="0"/>
              <a:t>It can ensure that the transition can happen given the state of the issue </a:t>
            </a:r>
          </a:p>
          <a:p>
            <a:pPr algn="just"/>
            <a:r>
              <a:rPr lang="en-US" sz="2400" b="1" dirty="0"/>
              <a:t>Properties: </a:t>
            </a:r>
            <a:r>
              <a:rPr lang="en-US" sz="2400" dirty="0"/>
              <a:t>JIRA recognizes some properties on transitions </a:t>
            </a:r>
          </a:p>
        </p:txBody>
      </p:sp>
    </p:spTree>
    <p:extLst>
      <p:ext uri="{BB962C8B-B14F-4D97-AF65-F5344CB8AC3E}">
        <p14:creationId xmlns:p14="http://schemas.microsoft.com/office/powerpoint/2010/main" val="30750913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48130"/>
            <a:ext cx="8229600" cy="1143000"/>
          </a:xfrm>
        </p:spPr>
        <p:txBody>
          <a:bodyPr>
            <a:normAutofit/>
          </a:bodyPr>
          <a:lstStyle/>
          <a:p>
            <a:r>
              <a:rPr lang="en-US" dirty="0" smtClean="0"/>
              <a:t>Workflow</a:t>
            </a:r>
            <a:endParaRPr lang="en-US" dirty="0"/>
          </a:p>
        </p:txBody>
      </p:sp>
      <p:sp>
        <p:nvSpPr>
          <p:cNvPr id="4" name="TextBox 3"/>
          <p:cNvSpPr txBox="1"/>
          <p:nvPr/>
        </p:nvSpPr>
        <p:spPr>
          <a:xfrm>
            <a:off x="381000" y="990600"/>
            <a:ext cx="8534400" cy="2677656"/>
          </a:xfrm>
          <a:prstGeom prst="rect">
            <a:avLst/>
          </a:prstGeom>
          <a:noFill/>
          <a:ln>
            <a:noFill/>
          </a:ln>
        </p:spPr>
        <p:txBody>
          <a:bodyPr wrap="square" rtlCol="0">
            <a:spAutoFit/>
          </a:bodyPr>
          <a:lstStyle/>
          <a:p>
            <a:pPr algn="just"/>
            <a:r>
              <a:rPr lang="en-US" sz="2400" dirty="0"/>
              <a:t>For the issue that we have created, JIRA will present a workflow which maps the progress of the project. As shown in screenshot whatever status that we have set in the Issue panel it will be reflected in Workflow chart, here we have set the issue status in "In Progress" and same status is updated in the workflow, highlighted in yellow. Workflow can give a quick overview of the work under process. </a:t>
            </a:r>
          </a:p>
        </p:txBody>
      </p:sp>
      <p:pic>
        <p:nvPicPr>
          <p:cNvPr id="2052" name="Picture 4" descr="http://cdn.guru99.com/images/jira/111014_0555_JIRA2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1473" y="3482454"/>
            <a:ext cx="6423927"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5452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48130"/>
            <a:ext cx="8229600" cy="1143000"/>
          </a:xfrm>
        </p:spPr>
        <p:txBody>
          <a:bodyPr>
            <a:normAutofit/>
          </a:bodyPr>
          <a:lstStyle/>
          <a:p>
            <a:r>
              <a:rPr lang="en-US" dirty="0" smtClean="0"/>
              <a:t>Companies that use JIRA</a:t>
            </a:r>
            <a:endParaRPr lang="en-US" dirty="0"/>
          </a:p>
        </p:txBody>
      </p:sp>
      <p:sp>
        <p:nvSpPr>
          <p:cNvPr id="4" name="TextBox 3"/>
          <p:cNvSpPr txBox="1"/>
          <p:nvPr/>
        </p:nvSpPr>
        <p:spPr>
          <a:xfrm>
            <a:off x="381000" y="990600"/>
            <a:ext cx="8534400" cy="1938992"/>
          </a:xfrm>
          <a:prstGeom prst="rect">
            <a:avLst/>
          </a:prstGeom>
          <a:noFill/>
          <a:ln>
            <a:noFill/>
          </a:ln>
        </p:spPr>
        <p:txBody>
          <a:bodyPr wrap="square" rtlCol="0">
            <a:spAutoFit/>
          </a:bodyPr>
          <a:lstStyle/>
          <a:p>
            <a:pPr algn="just"/>
            <a:r>
              <a:rPr lang="en-US" sz="2400" dirty="0" err="1"/>
              <a:t>LiveRamp</a:t>
            </a:r>
            <a:r>
              <a:rPr lang="en-US" sz="2400" dirty="0"/>
              <a:t>, </a:t>
            </a:r>
            <a:r>
              <a:rPr lang="en-US" sz="2400" dirty="0" err="1"/>
              <a:t>AppNexus</a:t>
            </a:r>
            <a:r>
              <a:rPr lang="en-US" sz="2400" dirty="0"/>
              <a:t>, </a:t>
            </a:r>
            <a:r>
              <a:rPr lang="en-US" sz="2400" dirty="0" err="1"/>
              <a:t>Cloudflare</a:t>
            </a:r>
            <a:r>
              <a:rPr lang="en-US" sz="2400" dirty="0"/>
              <a:t>, Intuit, LinkedIn, Twitter, eBay, </a:t>
            </a:r>
            <a:r>
              <a:rPr lang="en-US" sz="2400" dirty="0" err="1"/>
              <a:t>Splunk</a:t>
            </a:r>
            <a:r>
              <a:rPr lang="en-US" sz="2400" dirty="0"/>
              <a:t>, </a:t>
            </a:r>
            <a:r>
              <a:rPr lang="en-US" sz="2400" dirty="0" err="1"/>
              <a:t>WeWork</a:t>
            </a:r>
            <a:r>
              <a:rPr lang="en-US" sz="2400" dirty="0"/>
              <a:t>, </a:t>
            </a:r>
            <a:r>
              <a:rPr lang="en-US" sz="2400" dirty="0" err="1"/>
              <a:t>Criteo</a:t>
            </a:r>
            <a:r>
              <a:rPr lang="en-US" sz="2400" dirty="0"/>
              <a:t>, App Annie, DocuSign, </a:t>
            </a:r>
            <a:r>
              <a:rPr lang="en-US" sz="2400" dirty="0" err="1"/>
              <a:t>Snapdeal</a:t>
            </a:r>
            <a:r>
              <a:rPr lang="en-US" sz="2400" dirty="0"/>
              <a:t>, </a:t>
            </a:r>
            <a:r>
              <a:rPr lang="en-US" sz="2400" dirty="0" err="1"/>
              <a:t>SteelHouse</a:t>
            </a:r>
            <a:r>
              <a:rPr lang="en-US" sz="2400" dirty="0"/>
              <a:t>, IBM, Google, Accenture, Yahoo, Intel, T-Mobile, </a:t>
            </a:r>
            <a:r>
              <a:rPr lang="en-US" sz="2400" dirty="0" err="1"/>
              <a:t>Zendesk</a:t>
            </a:r>
            <a:r>
              <a:rPr lang="en-US" sz="2400" dirty="0"/>
              <a:t>, Capital One, New Relic, Box, Sony, Uber, Autodesk, </a:t>
            </a:r>
            <a:r>
              <a:rPr lang="en-US" sz="2400" dirty="0" err="1"/>
              <a:t>HubSpot</a:t>
            </a:r>
            <a:r>
              <a:rPr lang="en-US" sz="2400" dirty="0"/>
              <a:t>, </a:t>
            </a:r>
            <a:r>
              <a:rPr lang="en-US" sz="2400" dirty="0" err="1"/>
              <a:t>Chegg</a:t>
            </a:r>
            <a:r>
              <a:rPr lang="en-US" sz="2400" dirty="0"/>
              <a:t>, Yelp, </a:t>
            </a:r>
            <a:r>
              <a:rPr lang="en-US" sz="2400" dirty="0" err="1"/>
              <a:t>Okta</a:t>
            </a:r>
            <a:r>
              <a:rPr lang="en-US" sz="2400" dirty="0"/>
              <a:t>, AOL, </a:t>
            </a:r>
            <a:r>
              <a:rPr lang="en-US" sz="2400" dirty="0" err="1"/>
              <a:t>BuzzFeed</a:t>
            </a:r>
            <a:r>
              <a:rPr lang="en-US" sz="2400" dirty="0"/>
              <a:t>, and many others.</a:t>
            </a:r>
          </a:p>
        </p:txBody>
      </p:sp>
    </p:spTree>
    <p:extLst>
      <p:ext uri="{BB962C8B-B14F-4D97-AF65-F5344CB8AC3E}">
        <p14:creationId xmlns:p14="http://schemas.microsoft.com/office/powerpoint/2010/main" val="2941786952"/>
      </p:ext>
    </p:extLst>
  </p:cSld>
  <p:clrMapOvr>
    <a:masterClrMapping/>
  </p:clrMapOvr>
  <p:timing>
    <p:tnLst>
      <p:par>
        <p:cTn id="1" dur="indefinite" restart="never" nodeType="tmRoot"/>
      </p:par>
    </p:tnLst>
  </p:timing>
</p:sld>
</file>

<file path=ppt/theme/theme1.xml><?xml version="1.0" encoding="utf-8"?>
<a:theme xmlns:a="http://schemas.openxmlformats.org/drawingml/2006/main" name="20058-cub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3028-3d-cubes-powerpoint-template.potx" id="{31EC4B10-1AC8-4272-9787-5C7F5B142AAC}" vid="{C9938D3F-E61D-44C8-8929-DB1180B8F9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3028-3d-cubes-powerpoint-template</Template>
  <TotalTime>318</TotalTime>
  <Words>760</Words>
  <Application>Microsoft Office PowerPoint</Application>
  <PresentationFormat>On-screen Show (4:3)</PresentationFormat>
  <Paragraphs>58</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Microsoft Himalaya</vt:lpstr>
      <vt:lpstr>Microsoft New Tai Lue</vt:lpstr>
      <vt:lpstr>20058-cubes</vt:lpstr>
      <vt:lpstr>JIRA</vt:lpstr>
      <vt:lpstr>What is JIRA</vt:lpstr>
      <vt:lpstr>What JIRA is used for?</vt:lpstr>
      <vt:lpstr>Bug Tracking</vt:lpstr>
      <vt:lpstr>Issue Tracking</vt:lpstr>
      <vt:lpstr>Project Management</vt:lpstr>
      <vt:lpstr>PowerPoint Presentation</vt:lpstr>
      <vt:lpstr>Basic concepts in JIRA</vt:lpstr>
      <vt:lpstr>What is JIRA Project?</vt:lpstr>
      <vt:lpstr>What is JIRA Issues?</vt:lpstr>
      <vt:lpstr>JIRA Issue Types</vt:lpstr>
      <vt:lpstr>Issue Priority</vt:lpstr>
      <vt:lpstr>JIRA Workflow</vt:lpstr>
      <vt:lpstr>JIRA Workflow</vt:lpstr>
      <vt:lpstr>Workflow</vt:lpstr>
      <vt:lpstr>Workflow</vt:lpstr>
      <vt:lpstr>Companies that use JIRA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JIRA</dc:title>
  <dc:creator>Rozi khan</dc:creator>
  <cp:lastModifiedBy>Rozi khan</cp:lastModifiedBy>
  <cp:revision>18</cp:revision>
  <dcterms:created xsi:type="dcterms:W3CDTF">2016-11-24T06:51:39Z</dcterms:created>
  <dcterms:modified xsi:type="dcterms:W3CDTF">2016-11-27T18:19:25Z</dcterms:modified>
</cp:coreProperties>
</file>