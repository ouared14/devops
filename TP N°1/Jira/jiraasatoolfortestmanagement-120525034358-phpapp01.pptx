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2" r:id="rId1"/>
  </p:sldMasterIdLst>
  <p:notesMasterIdLst>
    <p:notesMasterId r:id="rId24"/>
  </p:notesMasterIdLst>
  <p:sldIdLst>
    <p:sldId id="256" r:id="rId2"/>
    <p:sldId id="270" r:id="rId3"/>
    <p:sldId id="271" r:id="rId4"/>
    <p:sldId id="274" r:id="rId5"/>
    <p:sldId id="278" r:id="rId6"/>
    <p:sldId id="276" r:id="rId7"/>
    <p:sldId id="257" r:id="rId8"/>
    <p:sldId id="261" r:id="rId9"/>
    <p:sldId id="280" r:id="rId10"/>
    <p:sldId id="277" r:id="rId11"/>
    <p:sldId id="275" r:id="rId12"/>
    <p:sldId id="265" r:id="rId13"/>
    <p:sldId id="267" r:id="rId14"/>
    <p:sldId id="281" r:id="rId15"/>
    <p:sldId id="282" r:id="rId16"/>
    <p:sldId id="283" r:id="rId17"/>
    <p:sldId id="263" r:id="rId18"/>
    <p:sldId id="262" r:id="rId19"/>
    <p:sldId id="269" r:id="rId20"/>
    <p:sldId id="268" r:id="rId21"/>
    <p:sldId id="284" r:id="rId22"/>
    <p:sldId id="26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autoAdjust="0"/>
    <p:restoredTop sz="64535" autoAdjust="0"/>
  </p:normalViewPr>
  <p:slideViewPr>
    <p:cSldViewPr>
      <p:cViewPr>
        <p:scale>
          <a:sx n="40" d="100"/>
          <a:sy n="40" d="100"/>
        </p:scale>
        <p:origin x="-1740" y="-3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lv-LV"/>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833A9C-5CF7-4C47-B5D0-24617ED28E32}" type="datetimeFigureOut">
              <a:rPr lang="lv-LV" smtClean="0"/>
              <a:pPr/>
              <a:t>17.05.2012</a:t>
            </a:fld>
            <a:endParaRPr lang="lv-LV"/>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lv-LV"/>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lv-LV"/>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0ED32B-F22F-49CE-9CA7-CAD1F7FDD2DC}" type="slidenum">
              <a:rPr lang="lv-LV" smtClean="0"/>
              <a:pPr/>
              <a:t>‹#›</a:t>
            </a:fld>
            <a:endParaRPr lang="lv-LV"/>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lv-LV" baseline="0" dirty="0" smtClean="0"/>
          </a:p>
        </p:txBody>
      </p:sp>
      <p:sp>
        <p:nvSpPr>
          <p:cNvPr id="4" name="Slide Number Placeholder 3"/>
          <p:cNvSpPr>
            <a:spLocks noGrp="1"/>
          </p:cNvSpPr>
          <p:nvPr>
            <p:ph type="sldNum" sz="quarter" idx="10"/>
          </p:nvPr>
        </p:nvSpPr>
        <p:spPr/>
        <p:txBody>
          <a:bodyPr/>
          <a:lstStyle/>
          <a:p>
            <a:fld id="{0F0ED32B-F22F-49CE-9CA7-CAD1F7FDD2DC}" type="slidenum">
              <a:rPr lang="lv-LV" smtClean="0"/>
              <a:pPr/>
              <a:t>1</a:t>
            </a:fld>
            <a:endParaRPr lang="lv-LV"/>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JIRA </a:t>
            </a:r>
            <a:r>
              <a:rPr lang="lv-LV" baseline="0" dirty="0" smtClean="0"/>
              <a:t>is one of the tools developed by Atlassian company (http://www.atlassian.com/). </a:t>
            </a:r>
          </a:p>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There are more than 18’000 companies world wide using Atlassian tools.</a:t>
            </a:r>
          </a:p>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And these tools are also quite familiar in Latvian IT community.</a:t>
            </a:r>
          </a:p>
          <a:p>
            <a:pPr marL="0" marR="0" indent="0" algn="l" defTabSz="914400" rtl="0" eaLnBrk="1" fontAlgn="auto" latinLnBrk="0" hangingPunct="1">
              <a:lnSpc>
                <a:spcPct val="100000"/>
              </a:lnSpc>
              <a:spcBef>
                <a:spcPts val="0"/>
              </a:spcBef>
              <a:spcAft>
                <a:spcPts val="0"/>
              </a:spcAft>
              <a:buClrTx/>
              <a:buSzTx/>
              <a:buFontTx/>
              <a:buNone/>
              <a:tabLst/>
              <a:defRPr/>
            </a:pPr>
            <a:endParaRPr lang="lv-LV" baseline="0" dirty="0" smtClean="0"/>
          </a:p>
          <a:p>
            <a:r>
              <a:rPr lang="lv-LV" baseline="0" dirty="0" smtClean="0"/>
              <a:t>There are several tools provided by Atlassian. The most popular are:</a:t>
            </a:r>
          </a:p>
          <a:p>
            <a:pPr marL="228600" indent="-228600">
              <a:buAutoNum type="arabicParenR"/>
            </a:pPr>
            <a:r>
              <a:rPr lang="lv-LV" b="1" baseline="0" dirty="0" smtClean="0"/>
              <a:t>JIRA</a:t>
            </a:r>
            <a:r>
              <a:rPr lang="lv-LV" baseline="0" dirty="0" smtClean="0"/>
              <a:t> – tool for </a:t>
            </a:r>
            <a:r>
              <a:rPr lang="lv-LV" b="1" baseline="0" dirty="0" smtClean="0"/>
              <a:t>project and issue tracking</a:t>
            </a:r>
          </a:p>
          <a:p>
            <a:pPr marL="228600" indent="-228600">
              <a:buAutoNum type="arabicParenR"/>
            </a:pPr>
            <a:r>
              <a:rPr lang="lv-LV" baseline="0" dirty="0" smtClean="0"/>
              <a:t>Plugins</a:t>
            </a:r>
          </a:p>
          <a:p>
            <a:pPr marL="685800" lvl="1" indent="-228600">
              <a:buAutoNum type="arabicParenR"/>
            </a:pPr>
            <a:r>
              <a:rPr lang="lv-LV" b="1" baseline="0" dirty="0" smtClean="0"/>
              <a:t>Greenhopper</a:t>
            </a:r>
            <a:r>
              <a:rPr lang="lv-LV" baseline="0" dirty="0" smtClean="0"/>
              <a:t> – tool for </a:t>
            </a:r>
            <a:r>
              <a:rPr lang="lv-LV" b="1" baseline="0" dirty="0" smtClean="0"/>
              <a:t>agile project management</a:t>
            </a:r>
          </a:p>
          <a:p>
            <a:pPr marL="685800" lvl="1" indent="-228600">
              <a:buAutoNum type="arabicParenR"/>
            </a:pPr>
            <a:r>
              <a:rPr lang="lv-LV" b="1" baseline="0" dirty="0" smtClean="0"/>
              <a:t>Bonfire</a:t>
            </a:r>
            <a:r>
              <a:rPr lang="lv-LV" baseline="0" dirty="0" smtClean="0"/>
              <a:t> – tool for </a:t>
            </a:r>
            <a:r>
              <a:rPr lang="lv-LV" b="1" baseline="0" dirty="0" smtClean="0"/>
              <a:t>Exploratory testing</a:t>
            </a:r>
          </a:p>
          <a:p>
            <a:pPr marL="228600" indent="-228600">
              <a:buAutoNum type="arabicParenR"/>
            </a:pPr>
            <a:r>
              <a:rPr lang="lv-LV" b="1" baseline="0" dirty="0" smtClean="0"/>
              <a:t>Confluence</a:t>
            </a:r>
            <a:r>
              <a:rPr lang="lv-LV" baseline="0" dirty="0" smtClean="0"/>
              <a:t> – a </a:t>
            </a:r>
            <a:r>
              <a:rPr lang="lv-LV" b="1" baseline="0" dirty="0" smtClean="0"/>
              <a:t>wiki tool for collaboration and content sharing</a:t>
            </a:r>
          </a:p>
          <a:p>
            <a:pPr marL="228600" indent="-228600">
              <a:buAutoNum type="arabicParenR"/>
            </a:pPr>
            <a:r>
              <a:rPr lang="lv-LV" baseline="0" dirty="0" smtClean="0"/>
              <a:t>Several </a:t>
            </a:r>
            <a:r>
              <a:rPr lang="lv-LV" b="1" baseline="0" dirty="0" smtClean="0"/>
              <a:t>code quality tools </a:t>
            </a:r>
            <a:r>
              <a:rPr lang="lv-LV" baseline="0" dirty="0" smtClean="0"/>
              <a:t>– </a:t>
            </a:r>
            <a:r>
              <a:rPr lang="lv-LV" b="1" baseline="0" dirty="0" smtClean="0"/>
              <a:t>Bamboo, Clover, Crucible, FishEye</a:t>
            </a:r>
          </a:p>
          <a:p>
            <a:endParaRPr lang="lv-LV" baseline="0" dirty="0" smtClean="0"/>
          </a:p>
          <a:p>
            <a:r>
              <a:rPr lang="lv-LV" baseline="0" dirty="0" smtClean="0"/>
              <a:t>Bonfire is dedicated plugin for JIRA to be able to manage testing.</a:t>
            </a:r>
          </a:p>
          <a:p>
            <a:r>
              <a:rPr lang="lv-LV" baseline="0" dirty="0" smtClean="0"/>
              <a:t>Unfortunately this is commercial plugin and will require additional costs.</a:t>
            </a:r>
          </a:p>
          <a:p>
            <a:endParaRPr lang="lv-LV" baseline="0" dirty="0" smtClean="0"/>
          </a:p>
          <a:p>
            <a:r>
              <a:rPr lang="lv-LV" baseline="0" dirty="0" smtClean="0"/>
              <a:t>What can we do about test management in JIRA and not willing to invest money in other tools?</a:t>
            </a:r>
          </a:p>
          <a:p>
            <a:endParaRPr lang="lv-LV" baseline="0" dirty="0" smtClean="0"/>
          </a:p>
        </p:txBody>
      </p:sp>
      <p:sp>
        <p:nvSpPr>
          <p:cNvPr id="4" name="Slide Number Placeholder 3"/>
          <p:cNvSpPr>
            <a:spLocks noGrp="1"/>
          </p:cNvSpPr>
          <p:nvPr>
            <p:ph type="sldNum" sz="quarter" idx="10"/>
          </p:nvPr>
        </p:nvSpPr>
        <p:spPr/>
        <p:txBody>
          <a:bodyPr/>
          <a:lstStyle/>
          <a:p>
            <a:fld id="{0F0ED32B-F22F-49CE-9CA7-CAD1F7FDD2DC}" type="slidenum">
              <a:rPr lang="lv-LV" smtClean="0"/>
              <a:pPr/>
              <a:t>2</a:t>
            </a:fld>
            <a:endParaRPr lang="lv-LV"/>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Let’s start</a:t>
            </a:r>
            <a:r>
              <a:rPr lang="lv-LV" baseline="0" dirty="0" smtClean="0"/>
              <a:t> with introduction to some basic concepts in JIRA.</a:t>
            </a:r>
            <a:endParaRPr lang="lv-LV" dirty="0" smtClean="0"/>
          </a:p>
          <a:p>
            <a:endParaRPr lang="lv-LV"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Each document or issue in JIRA has an issue type.</a:t>
            </a:r>
          </a:p>
          <a:p>
            <a:pPr marL="0" marR="0" indent="0" algn="l" defTabSz="914400" rtl="0" eaLnBrk="1" fontAlgn="auto" latinLnBrk="0" hangingPunct="1">
              <a:lnSpc>
                <a:spcPct val="100000"/>
              </a:lnSpc>
              <a:spcBef>
                <a:spcPts val="0"/>
              </a:spcBef>
              <a:spcAft>
                <a:spcPts val="0"/>
              </a:spcAft>
              <a:buClrTx/>
              <a:buSzTx/>
              <a:buFontTx/>
              <a:buNone/>
              <a:tabLst/>
              <a:defRPr/>
            </a:pPr>
            <a:endParaRPr lang="lv-LV"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Most popular are the ones related to application maintenance – incidents, problems, service requests, change requests</a:t>
            </a:r>
          </a:p>
          <a:p>
            <a:endParaRPr lang="lv-LV" dirty="0" smtClean="0"/>
          </a:p>
          <a:p>
            <a:r>
              <a:rPr lang="lv-LV" dirty="0" smtClean="0"/>
              <a:t>There can be unlimited</a:t>
            </a:r>
            <a:r>
              <a:rPr lang="lv-LV" baseline="0" dirty="0" smtClean="0"/>
              <a:t> types of issues defined in JIRA:</a:t>
            </a:r>
            <a:endParaRPr lang="lv-LV" dirty="0" smtClean="0"/>
          </a:p>
          <a:p>
            <a:r>
              <a:rPr lang="lv-LV" baseline="0" dirty="0" smtClean="0"/>
              <a:t> - Change Request</a:t>
            </a:r>
          </a:p>
          <a:p>
            <a:r>
              <a:rPr lang="lv-LV" baseline="0" dirty="0" smtClean="0"/>
              <a:t> - Incident</a:t>
            </a:r>
          </a:p>
          <a:p>
            <a:r>
              <a:rPr lang="lv-LV" baseline="0" dirty="0" smtClean="0"/>
              <a:t> - Problem</a:t>
            </a:r>
          </a:p>
          <a:p>
            <a:r>
              <a:rPr lang="lv-LV" baseline="0" dirty="0" smtClean="0"/>
              <a:t> - Service Request</a:t>
            </a:r>
          </a:p>
          <a:p>
            <a:r>
              <a:rPr lang="lv-LV" baseline="0" dirty="0" smtClean="0"/>
              <a:t> - User Stories</a:t>
            </a:r>
          </a:p>
          <a:p>
            <a:r>
              <a:rPr lang="lv-LV" baseline="0" dirty="0" smtClean="0"/>
              <a:t> - ...</a:t>
            </a:r>
          </a:p>
          <a:p>
            <a:endParaRPr lang="lv-LV" baseline="0" dirty="0" smtClean="0"/>
          </a:p>
          <a:p>
            <a:endParaRPr lang="lv-LV" baseline="0" dirty="0" smtClean="0"/>
          </a:p>
          <a:p>
            <a:endParaRPr lang="lv-LV" baseline="0" dirty="0" smtClean="0"/>
          </a:p>
        </p:txBody>
      </p:sp>
      <p:sp>
        <p:nvSpPr>
          <p:cNvPr id="4" name="Slide Number Placeholder 3"/>
          <p:cNvSpPr>
            <a:spLocks noGrp="1"/>
          </p:cNvSpPr>
          <p:nvPr>
            <p:ph type="sldNum" sz="quarter" idx="10"/>
          </p:nvPr>
        </p:nvSpPr>
        <p:spPr/>
        <p:txBody>
          <a:bodyPr/>
          <a:lstStyle/>
          <a:p>
            <a:fld id="{0F0ED32B-F22F-49CE-9CA7-CAD1F7FDD2DC}" type="slidenum">
              <a:rPr lang="lv-LV" smtClean="0"/>
              <a:pPr/>
              <a:t>3</a:t>
            </a:fld>
            <a:endParaRPr lang="lv-LV"/>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Another important</a:t>
            </a:r>
            <a:r>
              <a:rPr lang="lv-LV" baseline="0" dirty="0" smtClean="0"/>
              <a:t> concept in JIRA is workflow.</a:t>
            </a:r>
          </a:p>
          <a:p>
            <a:r>
              <a:rPr lang="lv-LV" baseline="0" dirty="0" smtClean="0"/>
              <a:t>There can be unlimited number of workflows defined.</a:t>
            </a:r>
          </a:p>
          <a:p>
            <a:r>
              <a:rPr lang="lv-LV" baseline="0" dirty="0" smtClean="0"/>
              <a:t>For each issue type in JIRA project there can be a particular workflow associated.</a:t>
            </a:r>
          </a:p>
          <a:p>
            <a:endParaRPr lang="lv-LV" baseline="0" dirty="0" smtClean="0"/>
          </a:p>
          <a:p>
            <a:r>
              <a:rPr lang="lv-LV" baseline="0" dirty="0" smtClean="0"/>
              <a:t>New workflows can be easily defined. </a:t>
            </a:r>
          </a:p>
          <a:p>
            <a:endParaRPr lang="lv-LV" baseline="0" dirty="0" smtClean="0"/>
          </a:p>
          <a:p>
            <a:r>
              <a:rPr lang="lv-LV" baseline="0" dirty="0" smtClean="0"/>
              <a:t>For each transition between statuses there can be </a:t>
            </a:r>
          </a:p>
          <a:p>
            <a:r>
              <a:rPr lang="lv-LV" baseline="0" dirty="0" smtClean="0"/>
              <a:t>1) </a:t>
            </a:r>
            <a:r>
              <a:rPr lang="lv-LV" b="1" baseline="0" dirty="0" smtClean="0"/>
              <a:t>screens </a:t>
            </a:r>
            <a:r>
              <a:rPr lang="lv-LV" baseline="0" dirty="0" smtClean="0"/>
              <a:t>containing particular </a:t>
            </a:r>
            <a:r>
              <a:rPr lang="lv-LV" b="1" baseline="0" dirty="0" smtClean="0"/>
              <a:t>fields configured</a:t>
            </a:r>
            <a:r>
              <a:rPr lang="lv-LV" baseline="0" dirty="0" smtClean="0"/>
              <a:t> which can be filled in when transition is executed</a:t>
            </a:r>
          </a:p>
          <a:p>
            <a:r>
              <a:rPr lang="lv-LV" baseline="0" dirty="0" smtClean="0"/>
              <a:t>2) a </a:t>
            </a:r>
            <a:r>
              <a:rPr lang="lv-LV" b="1" baseline="0" dirty="0" smtClean="0"/>
              <a:t>performer</a:t>
            </a:r>
            <a:r>
              <a:rPr lang="lv-LV" baseline="0" dirty="0" smtClean="0"/>
              <a:t> set - user role provided which can perform a transition</a:t>
            </a:r>
          </a:p>
          <a:p>
            <a:r>
              <a:rPr lang="lv-LV" baseline="0" dirty="0" smtClean="0"/>
              <a:t>3) </a:t>
            </a:r>
            <a:r>
              <a:rPr lang="lv-LV" b="1" baseline="0" dirty="0" smtClean="0"/>
              <a:t>post fuctions defined</a:t>
            </a:r>
            <a:r>
              <a:rPr lang="lv-LV" baseline="0" dirty="0" smtClean="0"/>
              <a:t> which will be executed – for example – update value of the particul field, perform additional actions</a:t>
            </a:r>
          </a:p>
          <a:p>
            <a:endParaRPr lang="lv-LV" baseline="0" dirty="0" smtClean="0"/>
          </a:p>
          <a:p>
            <a:r>
              <a:rPr lang="lv-LV" baseline="0" dirty="0" smtClean="0"/>
              <a:t>When issue has been created, it has a status – in a sample case – Open.</a:t>
            </a:r>
          </a:p>
          <a:p>
            <a:endParaRPr lang="lv-LV" baseline="0" dirty="0" smtClean="0"/>
          </a:p>
          <a:p>
            <a:r>
              <a:rPr lang="lv-LV" baseline="0" dirty="0" smtClean="0"/>
              <a:t>On the final status it is possible to set resolution for the issue, so that it disappears from the operational views in JIRA.</a:t>
            </a:r>
          </a:p>
          <a:p>
            <a:endParaRPr lang="lv-LV" baseline="0" dirty="0" smtClean="0"/>
          </a:p>
        </p:txBody>
      </p:sp>
      <p:sp>
        <p:nvSpPr>
          <p:cNvPr id="4" name="Slide Number Placeholder 3"/>
          <p:cNvSpPr>
            <a:spLocks noGrp="1"/>
          </p:cNvSpPr>
          <p:nvPr>
            <p:ph type="sldNum" sz="quarter" idx="10"/>
          </p:nvPr>
        </p:nvSpPr>
        <p:spPr/>
        <p:txBody>
          <a:bodyPr/>
          <a:lstStyle/>
          <a:p>
            <a:fld id="{0F0ED32B-F22F-49CE-9CA7-CAD1F7FDD2DC}" type="slidenum">
              <a:rPr lang="lv-LV" smtClean="0"/>
              <a:pPr/>
              <a:t>4</a:t>
            </a:fld>
            <a:endParaRPr lang="lv-LV"/>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There are two types of relationships available in JIRA by default</a:t>
            </a:r>
          </a:p>
          <a:p>
            <a:pPr marL="0" marR="0" indent="0" algn="l" defTabSz="914400" rtl="0" eaLnBrk="1" fontAlgn="auto" latinLnBrk="0" hangingPunct="1">
              <a:lnSpc>
                <a:spcPct val="100000"/>
              </a:lnSpc>
              <a:spcBef>
                <a:spcPts val="0"/>
              </a:spcBef>
              <a:spcAft>
                <a:spcPts val="0"/>
              </a:spcAft>
              <a:buClrTx/>
              <a:buSzTx/>
              <a:buFontTx/>
              <a:buNone/>
              <a:tabLst/>
              <a:defRPr/>
            </a:pPr>
            <a:endParaRPr lang="lv-LV" baseline="0" dirty="0" smtClean="0"/>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lv-LV" baseline="0" dirty="0" smtClean="0"/>
              <a:t>When new issue is created it is a </a:t>
            </a:r>
            <a:r>
              <a:rPr lang="lv-LV" b="1" baseline="0" dirty="0" smtClean="0"/>
              <a:t>Main</a:t>
            </a:r>
            <a:r>
              <a:rPr lang="lv-LV" baseline="0" dirty="0" smtClean="0"/>
              <a:t> issue</a:t>
            </a:r>
            <a:br>
              <a:rPr lang="lv-LV" baseline="0" dirty="0" smtClean="0"/>
            </a:br>
            <a:endParaRPr lang="lv-LV" baseline="0" dirty="0" smtClean="0"/>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lv-LV" baseline="0" dirty="0" smtClean="0"/>
              <a:t>For Main issue there could be </a:t>
            </a:r>
            <a:r>
              <a:rPr lang="lv-LV" b="1" baseline="0" dirty="0" smtClean="0"/>
              <a:t>sub-tasks</a:t>
            </a:r>
            <a:r>
              <a:rPr lang="lv-LV" baseline="0" dirty="0" smtClean="0"/>
              <a:t> created  - if there are several activities to be performed to solve the issue</a:t>
            </a:r>
            <a:br>
              <a:rPr lang="lv-LV" baseline="0" dirty="0" smtClean="0"/>
            </a:br>
            <a:r>
              <a:rPr lang="lv-LV" baseline="0" dirty="0" smtClean="0"/>
              <a:t>JIRA default configuration allows only 2 levels in issue hierarchy. </a:t>
            </a:r>
            <a:br>
              <a:rPr lang="lv-LV" baseline="0" dirty="0" smtClean="0"/>
            </a:br>
            <a:r>
              <a:rPr lang="lv-LV" baseline="0" dirty="0" smtClean="0"/>
              <a:t/>
            </a:r>
            <a:br>
              <a:rPr lang="lv-LV" baseline="0" dirty="0" smtClean="0"/>
            </a:br>
            <a:r>
              <a:rPr lang="lv-LV" baseline="0" dirty="0" smtClean="0"/>
              <a:t>Sometimes it seems to be a kind of limitation, however it is possible to adjust mindset to the limitation  and find a solution to be enough with two levels issue hierarchy. Data fields can be used to categorize issues and group relevant ones together.</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lv-LV" baseline="0" dirty="0" smtClean="0"/>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lv-LV" b="1" baseline="0" dirty="0" smtClean="0"/>
              <a:t>Links</a:t>
            </a:r>
            <a:r>
              <a:rPr lang="lv-LV" baseline="0" dirty="0" smtClean="0"/>
              <a:t> – any two issues can be linked to show relationship between them</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lv-LV" baseline="0"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5</a:t>
            </a:fld>
            <a:endParaRPr lang="lv-LV"/>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lv-LV" dirty="0" smtClean="0"/>
              <a:t>Last key concept in</a:t>
            </a:r>
            <a:r>
              <a:rPr lang="lv-LV" baseline="0" dirty="0" smtClean="0"/>
              <a:t> JIRA is Versions. Putting issue to the version, JIRA allows to monitor readiness or maturity of the version, called “Road Map”</a:t>
            </a:r>
          </a:p>
          <a:p>
            <a:endParaRPr lang="lv-LV" baseline="0" dirty="0" smtClean="0"/>
          </a:p>
          <a:p>
            <a:r>
              <a:rPr lang="lv-LV" baseline="0" dirty="0" smtClean="0"/>
              <a:t>There can be different use of versions – </a:t>
            </a:r>
          </a:p>
          <a:p>
            <a:endParaRPr lang="lv-LV" baseline="0" dirty="0" smtClean="0"/>
          </a:p>
          <a:p>
            <a:r>
              <a:rPr lang="lv-LV" baseline="0" dirty="0" smtClean="0"/>
              <a:t>in </a:t>
            </a:r>
            <a:r>
              <a:rPr lang="lv-LV" b="1" baseline="0" dirty="0" smtClean="0"/>
              <a:t>Maintenence</a:t>
            </a:r>
            <a:r>
              <a:rPr lang="lv-LV" baseline="0" dirty="0" smtClean="0"/>
              <a:t> projects these could be releases which are defined as versions – e.g</a:t>
            </a:r>
          </a:p>
          <a:p>
            <a:r>
              <a:rPr lang="lv-LV" baseline="0" dirty="0" smtClean="0"/>
              <a:t> - R12.2</a:t>
            </a:r>
          </a:p>
          <a:p>
            <a:r>
              <a:rPr lang="lv-LV" baseline="0" dirty="0" smtClean="0"/>
              <a:t> - R12.3</a:t>
            </a:r>
          </a:p>
          <a:p>
            <a:endParaRPr lang="lv-LV" baseline="0" dirty="0" smtClean="0"/>
          </a:p>
          <a:p>
            <a:r>
              <a:rPr lang="lv-LV" baseline="0" dirty="0" smtClean="0"/>
              <a:t>However, these could be also </a:t>
            </a:r>
            <a:r>
              <a:rPr lang="lv-LV" b="1" baseline="0" dirty="0" smtClean="0"/>
              <a:t>Project phases </a:t>
            </a:r>
            <a:r>
              <a:rPr lang="lv-LV" baseline="0" dirty="0" smtClean="0"/>
              <a:t>which are defined as versions – e.g.</a:t>
            </a:r>
          </a:p>
          <a:p>
            <a:r>
              <a:rPr lang="lv-LV" baseline="0" dirty="0" smtClean="0"/>
              <a:t> - System Test</a:t>
            </a:r>
          </a:p>
          <a:p>
            <a:r>
              <a:rPr lang="lv-LV" baseline="0" dirty="0" smtClean="0"/>
              <a:t> - User Acceptance Test</a:t>
            </a:r>
          </a:p>
          <a:p>
            <a:endParaRPr lang="lv-LV" baseline="0" dirty="0" smtClean="0"/>
          </a:p>
          <a:p>
            <a:r>
              <a:rPr lang="lv-LV" baseline="0" dirty="0" smtClean="0"/>
              <a:t>There could be also additional version created for </a:t>
            </a:r>
            <a:r>
              <a:rPr lang="lv-LV" b="1" baseline="0" dirty="0" smtClean="0"/>
              <a:t>Administrative</a:t>
            </a:r>
            <a:r>
              <a:rPr lang="lv-LV" baseline="0" dirty="0" smtClean="0"/>
              <a:t> tasks in the project.</a:t>
            </a:r>
          </a:p>
          <a:p>
            <a:endParaRPr lang="lv-LV" baseline="0" dirty="0" smtClean="0"/>
          </a:p>
          <a:p>
            <a:r>
              <a:rPr lang="lv-LV" baseline="0" dirty="0" smtClean="0"/>
              <a:t>--------------------------------------</a:t>
            </a:r>
          </a:p>
          <a:p>
            <a:r>
              <a:rPr lang="lv-LV" b="1" baseline="0" dirty="0" smtClean="0"/>
              <a:t>Now you have beed introduced to basic concepts in JIRA</a:t>
            </a:r>
          </a:p>
          <a:p>
            <a:r>
              <a:rPr lang="lv-LV" b="1" baseline="0" dirty="0" smtClean="0"/>
              <a:t> – issue types</a:t>
            </a:r>
          </a:p>
          <a:p>
            <a:r>
              <a:rPr lang="lv-LV" b="1" baseline="0" dirty="0" smtClean="0"/>
              <a:t> - workflows</a:t>
            </a:r>
          </a:p>
          <a:p>
            <a:r>
              <a:rPr lang="lv-LV" b="1" baseline="0" dirty="0" smtClean="0"/>
              <a:t> - relationships between issues</a:t>
            </a:r>
          </a:p>
          <a:p>
            <a:r>
              <a:rPr lang="lv-LV" b="1" baseline="0" dirty="0" smtClean="0"/>
              <a:t> - versions</a:t>
            </a:r>
          </a:p>
          <a:p>
            <a:endParaRPr lang="lv-LV" b="1" baseline="0" dirty="0" smtClean="0"/>
          </a:p>
          <a:p>
            <a:r>
              <a:rPr lang="lv-LV" b="1" baseline="0" dirty="0" smtClean="0"/>
              <a:t>Now I’m going to discuss how the same concepts can be used also for testing management not only issue and project tracking.</a:t>
            </a:r>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6</a:t>
            </a:fld>
            <a:endParaRPr lang="lv-LV"/>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As</a:t>
            </a:r>
            <a:r>
              <a:rPr lang="lv-LV" baseline="0" dirty="0" smtClean="0"/>
              <a:t> the first step to configure JIRA to support Test management is to define new issue types.</a:t>
            </a:r>
          </a:p>
          <a:p>
            <a:endParaRPr lang="lv-LV" baseline="0" dirty="0" smtClean="0"/>
          </a:p>
          <a:p>
            <a:r>
              <a:rPr lang="lv-LV" baseline="0" dirty="0" smtClean="0"/>
              <a:t>On the main level we defined one issue type – </a:t>
            </a:r>
            <a:r>
              <a:rPr lang="lv-LV" b="1" baseline="0" dirty="0" smtClean="0"/>
              <a:t>Test</a:t>
            </a:r>
          </a:p>
          <a:p>
            <a:r>
              <a:rPr lang="lv-LV" b="0" baseline="0" dirty="0" smtClean="0"/>
              <a:t>On Sub-task level we defined </a:t>
            </a:r>
            <a:r>
              <a:rPr lang="lv-LV" b="1" baseline="0" dirty="0" smtClean="0"/>
              <a:t>Test*</a:t>
            </a:r>
            <a:r>
              <a:rPr lang="lv-LV" b="0" baseline="0" dirty="0" smtClean="0"/>
              <a:t> and </a:t>
            </a:r>
            <a:r>
              <a:rPr lang="lv-LV" b="1" baseline="0" dirty="0" smtClean="0"/>
              <a:t>Acceptance Test*</a:t>
            </a:r>
          </a:p>
          <a:p>
            <a:r>
              <a:rPr lang="lv-LV" b="0" baseline="0" dirty="0" smtClean="0"/>
              <a:t>We put * at the end of issue type because issue type name should be unique in JIRA. But still we wanted to have issue type names similar to be easier used in searches afterwards.</a:t>
            </a:r>
            <a:endParaRPr lang="lv-LV" b="0"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7</a:t>
            </a:fld>
            <a:endParaRPr lang="lv-LV"/>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To</a:t>
            </a:r>
            <a:r>
              <a:rPr lang="lv-LV" baseline="0" dirty="0" smtClean="0"/>
              <a:t> maintain Testing Phases we used two approaches:</a:t>
            </a:r>
          </a:p>
          <a:p>
            <a:pPr marL="228600" indent="-228600">
              <a:buAutoNum type="arabicParenR"/>
            </a:pPr>
            <a:r>
              <a:rPr lang="lv-LV" baseline="0" dirty="0" smtClean="0"/>
              <a:t>Define </a:t>
            </a:r>
            <a:r>
              <a:rPr lang="lv-LV" b="1" baseline="0" dirty="0" smtClean="0"/>
              <a:t>Versions</a:t>
            </a:r>
            <a:r>
              <a:rPr lang="lv-LV" baseline="0" dirty="0" smtClean="0"/>
              <a:t> to correspond to Testing Phases:</a:t>
            </a:r>
          </a:p>
          <a:p>
            <a:pPr marL="685800" lvl="1" indent="-228600">
              <a:buAutoNum type="arabicParenR"/>
            </a:pPr>
            <a:r>
              <a:rPr lang="lv-LV" baseline="0" dirty="0" smtClean="0"/>
              <a:t>System Test</a:t>
            </a:r>
          </a:p>
          <a:p>
            <a:pPr marL="685800" lvl="1" indent="-228600">
              <a:buAutoNum type="arabicParenR"/>
            </a:pPr>
            <a:r>
              <a:rPr lang="lv-LV" baseline="0" dirty="0" smtClean="0"/>
              <a:t>User Acceptance Test</a:t>
            </a:r>
          </a:p>
          <a:p>
            <a:pPr marL="228600" lvl="0" indent="-228600">
              <a:buNone/>
            </a:pPr>
            <a:r>
              <a:rPr lang="lv-LV" b="1" baseline="0" dirty="0" smtClean="0"/>
              <a:t>OR</a:t>
            </a:r>
          </a:p>
          <a:p>
            <a:pPr marL="228600" lvl="0" indent="-228600">
              <a:buAutoNum type="arabicParenR"/>
            </a:pPr>
            <a:r>
              <a:rPr lang="lv-LV" baseline="0" dirty="0" smtClean="0"/>
              <a:t>Use different </a:t>
            </a:r>
            <a:r>
              <a:rPr lang="lv-LV" b="1" baseline="0" dirty="0" smtClean="0"/>
              <a:t>issue types </a:t>
            </a:r>
            <a:r>
              <a:rPr lang="lv-LV" baseline="0" dirty="0" smtClean="0"/>
              <a:t>for Tests performed by </a:t>
            </a:r>
          </a:p>
          <a:p>
            <a:pPr marL="685800" lvl="1" indent="-228600">
              <a:buAutoNum type="arabicParenR"/>
            </a:pPr>
            <a:r>
              <a:rPr lang="lv-LV" baseline="0" dirty="0" smtClean="0"/>
              <a:t>Supplier team (Test*)</a:t>
            </a:r>
          </a:p>
          <a:p>
            <a:pPr marL="685800" lvl="1" indent="-228600">
              <a:buAutoNum type="arabicParenR"/>
            </a:pPr>
            <a:r>
              <a:rPr lang="lv-LV" baseline="0" dirty="0" smtClean="0"/>
              <a:t>Customer team (Acceptance Test*)</a:t>
            </a:r>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8</a:t>
            </a:fld>
            <a:endParaRPr lang="lv-LV"/>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Let’s check</a:t>
            </a:r>
            <a:r>
              <a:rPr lang="lv-LV" baseline="0" dirty="0" smtClean="0"/>
              <a:t> key elements on JIRA issue:</a:t>
            </a:r>
          </a:p>
          <a:p>
            <a:pPr marL="228600" indent="-228600">
              <a:buAutoNum type="arabicParenR"/>
            </a:pPr>
            <a:r>
              <a:rPr lang="lv-LV" baseline="0" dirty="0" smtClean="0"/>
              <a:t>Issue Type – Test</a:t>
            </a:r>
          </a:p>
          <a:p>
            <a:pPr marL="228600" indent="-228600">
              <a:buAutoNum type="arabicParenR"/>
            </a:pPr>
            <a:r>
              <a:rPr lang="lv-LV" baseline="0" dirty="0" smtClean="0"/>
              <a:t>Fix Versions</a:t>
            </a:r>
          </a:p>
          <a:p>
            <a:pPr marL="228600" indent="-228600">
              <a:buAutoNum type="arabicParenR"/>
            </a:pPr>
            <a:r>
              <a:rPr lang="lv-LV" baseline="0" dirty="0" smtClean="0"/>
              <a:t>Linked issues</a:t>
            </a:r>
          </a:p>
          <a:p>
            <a:pPr marL="228600" indent="-228600">
              <a:buAutoNum type="arabicParenR"/>
            </a:pPr>
            <a:r>
              <a:rPr lang="lv-LV" baseline="0" dirty="0" smtClean="0"/>
              <a:t>Sub-tasks</a:t>
            </a:r>
          </a:p>
          <a:p>
            <a:pPr marL="228600" indent="-228600">
              <a:buAutoNum type="arabicParenR"/>
            </a:pPr>
            <a:endParaRPr lang="lv-LV" baseline="0" dirty="0" smtClean="0"/>
          </a:p>
          <a:p>
            <a:pPr marL="228600" indent="-228600">
              <a:buNone/>
            </a:pPr>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9</a:t>
            </a:fld>
            <a:endParaRPr lang="lv-LV"/>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lv-LV" dirty="0" smtClean="0"/>
              <a:t>To support</a:t>
            </a:r>
            <a:r>
              <a:rPr lang="lv-LV" baseline="0" dirty="0" smtClean="0"/>
              <a:t> </a:t>
            </a:r>
            <a:r>
              <a:rPr lang="lv-LV" dirty="0" smtClean="0"/>
              <a:t>test</a:t>
            </a:r>
            <a:r>
              <a:rPr lang="lv-LV" baseline="0" dirty="0" smtClean="0"/>
              <a:t> management we have defined a new workflow. We used the same workflow for all issue types related to testing.</a:t>
            </a:r>
          </a:p>
          <a:p>
            <a:endParaRPr lang="lv-LV" baseline="0" dirty="0" smtClean="0"/>
          </a:p>
          <a:p>
            <a:r>
              <a:rPr lang="lv-LV" baseline="0" dirty="0" smtClean="0"/>
              <a:t>To define Issue statuses for test management we prefixed all test related statuses with “Test:”</a:t>
            </a:r>
          </a:p>
          <a:p>
            <a:r>
              <a:rPr lang="lv-LV" baseline="0" dirty="0" smtClean="0"/>
              <a:t>This helped to sort test related statuses together in JIRA reports and views.</a:t>
            </a:r>
          </a:p>
          <a:p>
            <a:endParaRPr lang="lv-LV" baseline="0" dirty="0" smtClean="0"/>
          </a:p>
          <a:p>
            <a:r>
              <a:rPr lang="lv-LV" baseline="0" dirty="0" smtClean="0"/>
              <a:t>The first 2 statuses can be used while in </a:t>
            </a:r>
            <a:r>
              <a:rPr lang="lv-LV" b="1" baseline="0" dirty="0" smtClean="0"/>
              <a:t>Test planning phase </a:t>
            </a:r>
            <a:r>
              <a:rPr lang="lv-LV" baseline="0" dirty="0" smtClean="0"/>
              <a:t>– to start to create tests and sub tasks as early as possible in the project, which will be part of test plan – to document all tests which will need to be executed.</a:t>
            </a:r>
          </a:p>
          <a:p>
            <a:endParaRPr lang="lv-LV" baseline="0" dirty="0" smtClean="0"/>
          </a:p>
          <a:p>
            <a:r>
              <a:rPr lang="lv-LV" baseline="0" dirty="0" smtClean="0"/>
              <a:t>At planning phase all issues can be assigned to test manager, and then, when decided who will test what – tests can be re-assigned to the actual tester and issue can be moved in wirkflow to the step “Test: Ready to Run”</a:t>
            </a:r>
          </a:p>
          <a:p>
            <a:r>
              <a:rPr lang="lv-LV" baseline="0" dirty="0" smtClean="0"/>
              <a:t>Or test can be assigned to dedicated tester if there will be needed to provide detailed information about what test activities will be performed.</a:t>
            </a:r>
          </a:p>
          <a:p>
            <a:endParaRPr lang="lv-LV" baseline="0" dirty="0" smtClean="0"/>
          </a:p>
          <a:p>
            <a:r>
              <a:rPr lang="lv-LV" baseline="0" dirty="0" smtClean="0"/>
              <a:t>The following statuses are related to </a:t>
            </a:r>
            <a:r>
              <a:rPr lang="lv-LV" b="1" baseline="0" dirty="0" smtClean="0"/>
              <a:t>Test Execution</a:t>
            </a:r>
            <a:r>
              <a:rPr lang="lv-LV" baseline="0" dirty="0" smtClean="0"/>
              <a:t>:</a:t>
            </a:r>
          </a:p>
          <a:p>
            <a:r>
              <a:rPr lang="lv-LV" baseline="0" dirty="0" smtClean="0"/>
              <a:t> - In Progress, ....</a:t>
            </a:r>
          </a:p>
          <a:p>
            <a:endParaRPr lang="lv-LV" baseline="0" dirty="0" smtClean="0"/>
          </a:p>
          <a:p>
            <a:r>
              <a:rPr lang="lv-LV" baseline="0" dirty="0" smtClean="0"/>
              <a:t>There are </a:t>
            </a:r>
            <a:r>
              <a:rPr lang="lv-LV" b="1" baseline="0" dirty="0" smtClean="0"/>
              <a:t>2 final statuses </a:t>
            </a:r>
            <a:r>
              <a:rPr lang="lv-LV" baseline="0" dirty="0" smtClean="0"/>
              <a:t>in Test workflow where resolution will be set:</a:t>
            </a:r>
          </a:p>
          <a:p>
            <a:r>
              <a:rPr lang="lv-LV" baseline="0" dirty="0" smtClean="0"/>
              <a:t> - Test: Passed – Resolution = ‘Fixed’</a:t>
            </a:r>
          </a:p>
          <a:p>
            <a:r>
              <a:rPr lang="lv-LV" baseline="0" dirty="0" smtClean="0"/>
              <a:t> - Test: Obsolete – Resolution = ‘Won’t fix’</a:t>
            </a:r>
          </a:p>
        </p:txBody>
      </p:sp>
      <p:sp>
        <p:nvSpPr>
          <p:cNvPr id="4" name="Slide Number Placeholder 3"/>
          <p:cNvSpPr>
            <a:spLocks noGrp="1"/>
          </p:cNvSpPr>
          <p:nvPr>
            <p:ph type="sldNum" sz="quarter" idx="10"/>
          </p:nvPr>
        </p:nvSpPr>
        <p:spPr/>
        <p:txBody>
          <a:bodyPr/>
          <a:lstStyle/>
          <a:p>
            <a:fld id="{0F0ED32B-F22F-49CE-9CA7-CAD1F7FDD2DC}" type="slidenum">
              <a:rPr lang="lv-LV" smtClean="0"/>
              <a:pPr/>
              <a:t>10</a:t>
            </a:fld>
            <a:endParaRPr lang="lv-LV"/>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This is how test</a:t>
            </a:r>
            <a:r>
              <a:rPr lang="lv-LV" baseline="0" dirty="0" smtClean="0"/>
              <a:t> related statuses look like on JIRA online reporting gadgets.</a:t>
            </a:r>
          </a:p>
          <a:p>
            <a:endParaRPr lang="lv-LV" baseline="0"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11</a:t>
            </a:fld>
            <a:endParaRPr lang="lv-LV"/>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Let’s check</a:t>
            </a:r>
            <a:r>
              <a:rPr lang="lv-LV" baseline="0" dirty="0" smtClean="0"/>
              <a:t> key elements on JIRA issue:</a:t>
            </a:r>
          </a:p>
          <a:p>
            <a:pPr marL="228600" indent="-228600">
              <a:buAutoNum type="arabicParenR"/>
            </a:pPr>
            <a:r>
              <a:rPr lang="lv-LV" baseline="0" dirty="0" smtClean="0"/>
              <a:t>Issue Type – Test</a:t>
            </a:r>
          </a:p>
          <a:p>
            <a:pPr marL="228600" indent="-228600">
              <a:buAutoNum type="arabicParenR"/>
            </a:pPr>
            <a:r>
              <a:rPr lang="lv-LV" baseline="0" dirty="0" smtClean="0"/>
              <a:t>Master issue number / sub-task issue number </a:t>
            </a:r>
          </a:p>
          <a:p>
            <a:pPr marL="228600" indent="-228600">
              <a:buAutoNum type="arabicParenR"/>
            </a:pPr>
            <a:r>
              <a:rPr lang="lv-LV" baseline="0" dirty="0" smtClean="0"/>
              <a:t>Issue Status / Resolution / Fixed versions</a:t>
            </a:r>
          </a:p>
          <a:p>
            <a:pPr marL="228600" indent="-228600">
              <a:buAutoNum type="arabicParenR"/>
            </a:pPr>
            <a:r>
              <a:rPr lang="lv-LV" baseline="0" dirty="0" smtClean="0"/>
              <a:t>Workflow actions</a:t>
            </a:r>
          </a:p>
          <a:p>
            <a:pPr marL="228600" indent="-228600">
              <a:buAutoNum type="arabicParenR"/>
            </a:pPr>
            <a:r>
              <a:rPr lang="lv-LV" baseline="0" dirty="0" smtClean="0"/>
              <a:t>Description == test steps, test procedure – free formatting</a:t>
            </a:r>
          </a:p>
          <a:p>
            <a:pPr marL="228600" indent="-228600">
              <a:buAutoNum type="arabicParenR"/>
            </a:pPr>
            <a:r>
              <a:rPr lang="lv-LV" baseline="0" dirty="0" smtClean="0"/>
              <a:t>Test results as screenshots</a:t>
            </a:r>
          </a:p>
          <a:p>
            <a:pPr marL="228600" indent="-228600">
              <a:buAutoNum type="arabicParenR"/>
            </a:pPr>
            <a:endParaRPr lang="lv-LV" baseline="0"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12</a:t>
            </a:fld>
            <a:endParaRPr lang="lv-LV"/>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Attached</a:t>
            </a:r>
            <a:r>
              <a:rPr lang="lv-LV" baseline="0" dirty="0" smtClean="0"/>
              <a:t> screenshots can be easily reviewed.</a:t>
            </a:r>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13</a:t>
            </a:fld>
            <a:endParaRPr lang="lv-LV"/>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Let’s check</a:t>
            </a:r>
            <a:r>
              <a:rPr lang="lv-LV" baseline="0" dirty="0" smtClean="0"/>
              <a:t> key elements on JIRA issue:</a:t>
            </a:r>
          </a:p>
          <a:p>
            <a:pPr marL="228600" indent="-228600">
              <a:buAutoNum type="arabicParenR"/>
            </a:pPr>
            <a:r>
              <a:rPr lang="lv-LV" baseline="0" dirty="0" smtClean="0"/>
              <a:t>Issue status</a:t>
            </a:r>
          </a:p>
          <a:p>
            <a:pPr marL="228600" indent="-228600">
              <a:buAutoNum type="arabicParenR"/>
            </a:pPr>
            <a:r>
              <a:rPr lang="lv-LV" baseline="0" dirty="0" smtClean="0"/>
              <a:t>Workflow actions</a:t>
            </a:r>
          </a:p>
          <a:p>
            <a:pPr marL="228600" indent="-228600">
              <a:buAutoNum type="arabicParenR"/>
            </a:pPr>
            <a:r>
              <a:rPr lang="lv-LV" baseline="0" dirty="0" smtClean="0"/>
              <a:t>Links to related issues</a:t>
            </a:r>
          </a:p>
          <a:p>
            <a:endParaRPr lang="lv-LV"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14</a:t>
            </a:fld>
            <a:endParaRPr lang="lv-LV"/>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lv-LV" dirty="0" smtClean="0"/>
          </a:p>
          <a:p>
            <a:r>
              <a:rPr lang="lv-LV" dirty="0" smtClean="0"/>
              <a:t>Let’s check</a:t>
            </a:r>
            <a:r>
              <a:rPr lang="lv-LV" baseline="0" dirty="0" smtClean="0"/>
              <a:t> key elements on JIRA issue – discovered failure during test execution:</a:t>
            </a:r>
          </a:p>
          <a:p>
            <a:pPr marL="228600" indent="-228600">
              <a:buAutoNum type="arabicParenR"/>
            </a:pPr>
            <a:r>
              <a:rPr lang="lv-LV" baseline="0" dirty="0" smtClean="0"/>
              <a:t>Links to related issues</a:t>
            </a:r>
          </a:p>
          <a:p>
            <a:endParaRPr lang="lv-LV"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lv-LV"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15</a:t>
            </a:fld>
            <a:endParaRPr lang="lv-LV"/>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There is Clone and Move functionality in JIRA which allows to</a:t>
            </a:r>
            <a:r>
              <a:rPr lang="lv-LV" baseline="0" dirty="0" smtClean="0"/>
              <a:t> create copy from System Test to Acceptance test</a:t>
            </a:r>
          </a:p>
          <a:p>
            <a:endParaRPr lang="lv-LV"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16</a:t>
            </a:fld>
            <a:endParaRPr lang="lv-LV"/>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Sample online reports available in JIRA – pie charts</a:t>
            </a:r>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17</a:t>
            </a:fld>
            <a:endParaRPr lang="lv-LV"/>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lv-LV" dirty="0" smtClean="0"/>
              <a:t>Sample online reports available in JIRA </a:t>
            </a:r>
          </a:p>
          <a:p>
            <a:pPr marL="0" marR="0" indent="0" algn="l" defTabSz="914400" rtl="0" eaLnBrk="1" fontAlgn="auto" latinLnBrk="0" hangingPunct="1">
              <a:lnSpc>
                <a:spcPct val="100000"/>
              </a:lnSpc>
              <a:spcBef>
                <a:spcPts val="0"/>
              </a:spcBef>
              <a:spcAft>
                <a:spcPts val="0"/>
              </a:spcAft>
              <a:buClrTx/>
              <a:buSzTx/>
              <a:buFontTx/>
              <a:buNone/>
              <a:tabLst/>
              <a:defRPr/>
            </a:pPr>
            <a:r>
              <a:rPr lang="lv-LV" dirty="0" smtClean="0"/>
              <a:t> – two dimensional</a:t>
            </a:r>
            <a:r>
              <a:rPr lang="lv-LV" baseline="0" dirty="0" smtClean="0"/>
              <a:t> filter statistics</a:t>
            </a:r>
          </a:p>
          <a:p>
            <a:pPr marL="0" marR="0" indent="0" algn="l" defTabSz="914400" rtl="0" eaLnBrk="1" fontAlgn="auto" latinLnBrk="0" hangingPunct="1">
              <a:lnSpc>
                <a:spcPct val="100000"/>
              </a:lnSpc>
              <a:spcBef>
                <a:spcPts val="0"/>
              </a:spcBef>
              <a:spcAft>
                <a:spcPts val="0"/>
              </a:spcAft>
              <a:buClrTx/>
              <a:buSzTx/>
              <a:buFontTx/>
              <a:buNone/>
              <a:tabLst/>
              <a:defRPr/>
            </a:pPr>
            <a:r>
              <a:rPr lang="lv-LV" baseline="0" dirty="0" smtClean="0"/>
              <a:t> - Issue statistics</a:t>
            </a:r>
            <a:endParaRPr lang="lv-LV"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18</a:t>
            </a:fld>
            <a:endParaRPr lang="lv-LV"/>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Samples demonstrated</a:t>
            </a:r>
            <a:r>
              <a:rPr lang="lv-LV" baseline="0" dirty="0" smtClean="0"/>
              <a:t> so far were suitable for development or implementation projects where testing is a separate project phase and testing tasks are planned independently from reported issues.</a:t>
            </a:r>
          </a:p>
          <a:p>
            <a:endParaRPr lang="lv-LV" baseline="0" dirty="0" smtClean="0"/>
          </a:p>
          <a:p>
            <a:r>
              <a:rPr lang="lv-LV" baseline="0" dirty="0" smtClean="0"/>
              <a:t>In application maintenance projects testing is closely related to reported issues.</a:t>
            </a:r>
          </a:p>
          <a:p>
            <a:r>
              <a:rPr lang="lv-LV" baseline="0" dirty="0" smtClean="0"/>
              <a:t>In such cases testing activities can be created as sub tasks to the reported incident or problem, or link between problem and test can be created: Problem .. is tested by </a:t>
            </a:r>
            <a:r>
              <a:rPr lang="lv-LV" baseline="0" dirty="0" smtClean="0">
                <a:sym typeface="Wingdings" pitchFamily="2" charset="2"/>
              </a:rPr>
              <a:t> </a:t>
            </a:r>
            <a:r>
              <a:rPr lang="lv-LV" baseline="0" dirty="0" smtClean="0"/>
              <a:t> Test .. is testing </a:t>
            </a:r>
          </a:p>
          <a:p>
            <a:endParaRPr lang="lv-LV" baseline="0" dirty="0" smtClean="0"/>
          </a:p>
          <a:p>
            <a:endParaRPr lang="en-US" dirty="0" smtClean="0"/>
          </a:p>
          <a:p>
            <a:endParaRPr lang="en-US"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19</a:t>
            </a:fld>
            <a:endParaRPr lang="lv-LV"/>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JIRA allows to monitor</a:t>
            </a:r>
            <a:r>
              <a:rPr lang="lv-LV" baseline="0" dirty="0" smtClean="0"/>
              <a:t> maturity of the version – Road map</a:t>
            </a:r>
          </a:p>
          <a:p>
            <a:r>
              <a:rPr lang="lv-LV" baseline="0" dirty="0" smtClean="0"/>
              <a:t>It shows number of Fixed issues linked to the version and issues still in progress</a:t>
            </a:r>
            <a:endParaRPr lang="lv-LV" dirty="0" smtClean="0"/>
          </a:p>
          <a:p>
            <a:endParaRPr lang="lv-LV" dirty="0" smtClean="0"/>
          </a:p>
          <a:p>
            <a:endParaRPr lang="lv-LV" dirty="0" smtClean="0"/>
          </a:p>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20</a:t>
            </a:fld>
            <a:endParaRPr lang="lv-LV"/>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lv-LV" dirty="0" smtClean="0"/>
              <a:t>!!!!DEMO!!!!</a:t>
            </a:r>
          </a:p>
          <a:p>
            <a:endParaRPr lang="lv-LV" dirty="0" smtClean="0"/>
          </a:p>
          <a:p>
            <a:r>
              <a:rPr lang="lv-LV" dirty="0" smtClean="0"/>
              <a:t>https://jira.ebit.lv/secure/Dashboard.jspa</a:t>
            </a:r>
          </a:p>
          <a:p>
            <a:endParaRPr lang="lv-LV" dirty="0" smtClean="0"/>
          </a:p>
          <a:p>
            <a:r>
              <a:rPr lang="lv-LV" dirty="0" smtClean="0"/>
              <a:t>zane.odzina@ebit</a:t>
            </a:r>
          </a:p>
          <a:p>
            <a:endParaRPr lang="lv-LV" dirty="0" smtClean="0"/>
          </a:p>
          <a:p>
            <a:r>
              <a:rPr lang="lv-LV" dirty="0" smtClean="0"/>
              <a:t> - Dashboards</a:t>
            </a:r>
          </a:p>
          <a:p>
            <a:r>
              <a:rPr lang="lv-LV" dirty="0" smtClean="0"/>
              <a:t> -- Test</a:t>
            </a:r>
          </a:p>
          <a:p>
            <a:r>
              <a:rPr lang="lv-LV" dirty="0" smtClean="0"/>
              <a:t> -- All</a:t>
            </a:r>
          </a:p>
          <a:p>
            <a:r>
              <a:rPr lang="lv-LV" dirty="0" smtClean="0"/>
              <a:t> - Project roadmap</a:t>
            </a:r>
          </a:p>
          <a:p>
            <a:r>
              <a:rPr lang="lv-LV" baseline="0" dirty="0" smtClean="0"/>
              <a:t> - Project summary</a:t>
            </a:r>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21</a:t>
            </a:fld>
            <a:endParaRPr lang="lv-LV"/>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lv-LV" dirty="0"/>
          </a:p>
        </p:txBody>
      </p:sp>
      <p:sp>
        <p:nvSpPr>
          <p:cNvPr id="4" name="Slide Number Placeholder 3"/>
          <p:cNvSpPr>
            <a:spLocks noGrp="1"/>
          </p:cNvSpPr>
          <p:nvPr>
            <p:ph type="sldNum" sz="quarter" idx="10"/>
          </p:nvPr>
        </p:nvSpPr>
        <p:spPr/>
        <p:txBody>
          <a:bodyPr/>
          <a:lstStyle/>
          <a:p>
            <a:fld id="{0F0ED32B-F22F-49CE-9CA7-CAD1F7FDD2DC}" type="slidenum">
              <a:rPr lang="lv-LV" smtClean="0"/>
              <a:pPr/>
              <a:t>22</a:t>
            </a:fld>
            <a:endParaRPr lang="lv-LV"/>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1215594"/>
            <a:ext cx="9144000" cy="629229"/>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0106B4A3-4212-4E39-93DE-E053E8F69C28}" type="datetimeFigureOut">
              <a:rPr lang="en-US" smtClean="0"/>
              <a:pPr/>
              <a:t>5/17/2012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kumimoji="0"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A3DCDF73-85D2-4237-9B32-053DBDB0C312}" type="slidenum">
              <a:rPr kumimoji="0" lang="en-US" smtClean="0"/>
              <a:pPr/>
              <a:t>‹#›</a:t>
            </a:fld>
            <a:endParaRPr kumimoji="0" lang="en-US"/>
          </a:p>
        </p:txBody>
      </p:sp>
      <p:sp>
        <p:nvSpPr>
          <p:cNvPr id="14" name="Rectangle 13"/>
          <p:cNvSpPr/>
          <p:nvPr userDrawn="1"/>
        </p:nvSpPr>
        <p:spPr>
          <a:xfrm>
            <a:off x="0" y="1281314"/>
            <a:ext cx="533400" cy="491501"/>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p:nvPr userDrawn="1"/>
        </p:nvSpPr>
        <p:spPr>
          <a:xfrm>
            <a:off x="590550" y="1281314"/>
            <a:ext cx="7221810" cy="491501"/>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0" name="Picture 9" descr="eBIT_logo-small.png"/>
          <p:cNvPicPr>
            <a:picLocks noChangeAspect="1"/>
          </p:cNvPicPr>
          <p:nvPr userDrawn="1"/>
        </p:nvPicPr>
        <p:blipFill>
          <a:blip r:embed="rId2" cstate="print"/>
          <a:stretch>
            <a:fillRect/>
          </a:stretch>
        </p:blipFill>
        <p:spPr>
          <a:xfrm>
            <a:off x="7956376" y="1279393"/>
            <a:ext cx="1076325" cy="476250"/>
          </a:xfrm>
          <a:prstGeom prst="rect">
            <a:avLst/>
          </a:prstGeom>
        </p:spPr>
      </p:pic>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106B4A3-4212-4E39-93DE-E053E8F69C28}" type="datetimeFigureOut">
              <a:rPr lang="en-US" smtClean="0"/>
              <a:pPr/>
              <a:t>5/17/2012</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3DCDF73-85D2-4237-9B32-053DBDB0C312}" type="slidenum">
              <a:rPr kumimoji="0" lang="en-US" smtClean="0"/>
              <a:pPr/>
              <a:t>‹#›</a:t>
            </a:fld>
            <a:endParaRPr kumimoji="0"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0106B4A3-4212-4E39-93DE-E053E8F69C28}" type="datetimeFigureOut">
              <a:rPr lang="en-US" smtClean="0"/>
              <a:pPr/>
              <a:t>5/17/2012</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A3DCDF73-85D2-4237-9B32-053DBDB0C312}" type="slidenum">
              <a:rPr kumimoji="0" lang="en-US" smtClean="0"/>
              <a:pPr/>
              <a:t>‹#›</a:t>
            </a:fld>
            <a:endParaRPr kumimoji="0" lang="en-US"/>
          </a:p>
        </p:txBody>
      </p:sp>
      <p:sp>
        <p:nvSpPr>
          <p:cNvPr id="14" name="Footer Placeholder 13"/>
          <p:cNvSpPr>
            <a:spLocks noGrp="1"/>
          </p:cNvSpPr>
          <p:nvPr>
            <p:ph type="ftr" sz="quarter" idx="12"/>
          </p:nvPr>
        </p:nvSpPr>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0106B4A3-4212-4E39-93DE-E053E8F69C28}" type="datetimeFigureOut">
              <a:rPr lang="en-US" smtClean="0"/>
              <a:pPr/>
              <a:t>5/17/2012</a:t>
            </a:fld>
            <a:endParaRPr lang="en-US"/>
          </a:p>
        </p:txBody>
      </p:sp>
      <p:sp>
        <p:nvSpPr>
          <p:cNvPr id="10" name="Slide Number Placeholder 9"/>
          <p:cNvSpPr>
            <a:spLocks noGrp="1"/>
          </p:cNvSpPr>
          <p:nvPr>
            <p:ph type="sldNum" sz="quarter" idx="16"/>
          </p:nvPr>
        </p:nvSpPr>
        <p:spPr/>
        <p:txBody>
          <a:bodyPr rtlCol="0"/>
          <a:lstStyle/>
          <a:p>
            <a:fld id="{A3DCDF73-85D2-4237-9B32-053DBDB0C312}" type="slidenum">
              <a:rPr kumimoji="0" lang="en-US" smtClean="0"/>
              <a:pPr/>
              <a:t>‹#›</a:t>
            </a:fld>
            <a:endParaRPr kumimoji="0" lang="en-US"/>
          </a:p>
        </p:txBody>
      </p:sp>
      <p:sp>
        <p:nvSpPr>
          <p:cNvPr id="12" name="Footer Placeholder 11"/>
          <p:cNvSpPr>
            <a:spLocks noGrp="1"/>
          </p:cNvSpPr>
          <p:nvPr>
            <p:ph type="ftr" sz="quarter" idx="17"/>
          </p:nvPr>
        </p:nvSpPr>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0106B4A3-4212-4E39-93DE-E053E8F69C28}" type="datetimeFigureOut">
              <a:rPr lang="en-US" smtClean="0"/>
              <a:pPr/>
              <a:t>5/17/2012</a:t>
            </a:fld>
            <a:endParaRPr lang="en-US"/>
          </a:p>
        </p:txBody>
      </p:sp>
      <p:sp>
        <p:nvSpPr>
          <p:cNvPr id="12" name="Slide Number Placeholder 11"/>
          <p:cNvSpPr>
            <a:spLocks noGrp="1"/>
          </p:cNvSpPr>
          <p:nvPr>
            <p:ph type="sldNum" sz="quarter" idx="16"/>
          </p:nvPr>
        </p:nvSpPr>
        <p:spPr/>
        <p:txBody>
          <a:bodyPr rtlCol="0"/>
          <a:lstStyle/>
          <a:p>
            <a:fld id="{A3DCDF73-85D2-4237-9B32-053DBDB0C312}" type="slidenum">
              <a:rPr kumimoji="0" lang="en-US" smtClean="0"/>
              <a:pPr/>
              <a:t>‹#›</a:t>
            </a:fld>
            <a:endParaRPr kumimoji="0" lang="en-US"/>
          </a:p>
        </p:txBody>
      </p:sp>
      <p:sp>
        <p:nvSpPr>
          <p:cNvPr id="14" name="Footer Placeholder 13"/>
          <p:cNvSpPr>
            <a:spLocks noGrp="1"/>
          </p:cNvSpPr>
          <p:nvPr>
            <p:ph type="ftr" sz="quarter" idx="17"/>
          </p:nvPr>
        </p:nvSpPr>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106B4A3-4212-4E39-93DE-E053E8F69C28}" type="datetimeFigureOut">
              <a:rPr lang="en-US" smtClean="0"/>
              <a:pPr/>
              <a:t>5/17/2012</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A3DCDF73-85D2-4237-9B32-053DBDB0C312}" type="slidenum">
              <a:rPr kumimoji="0" lang="en-US" smtClean="0"/>
              <a:pPr/>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06B4A3-4212-4E39-93DE-E053E8F69C28}" type="datetimeFigureOut">
              <a:rPr lang="en-US" smtClean="0"/>
              <a:pPr/>
              <a:t>5/17/2012</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A3DCDF73-85D2-4237-9B32-053DBDB0C312}"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106B4A3-4212-4E39-93DE-E053E8F69C28}" type="datetimeFigureOut">
              <a:rPr lang="en-US" smtClean="0"/>
              <a:pPr/>
              <a:t>5/17/2012</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A3DCDF73-85D2-4237-9B32-053DBDB0C312}" type="slidenum">
              <a:rPr kumimoji="0" lang="en-US" smtClean="0"/>
              <a:pPr/>
              <a:t>‹#›</a:t>
            </a:fld>
            <a:endParaRPr kumimoji="0"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0106B4A3-4212-4E39-93DE-E053E8F69C28}" type="datetimeFigureOut">
              <a:rPr lang="en-US" smtClean="0"/>
              <a:pPr/>
              <a:t>5/17/2012</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A3DCDF73-85D2-4237-9B32-053DBDB0C312}" type="slidenum">
              <a:rPr kumimoji="0" lang="en-US" smtClean="0"/>
              <a:pPr/>
              <a:t>‹#›</a:t>
            </a:fld>
            <a:endParaRPr kumimoji="0" lang="en-US"/>
          </a:p>
        </p:txBody>
      </p:sp>
      <p:sp>
        <p:nvSpPr>
          <p:cNvPr id="14" name="Footer Placeholder 13"/>
          <p:cNvSpPr>
            <a:spLocks noGrp="1"/>
          </p:cNvSpPr>
          <p:nvPr>
            <p:ph type="ftr" sz="quarter" idx="12"/>
          </p:nvPr>
        </p:nvSpPr>
        <p:spPr>
          <a:xfrm>
            <a:off x="1600200" y="6248206"/>
            <a:ext cx="4572000" cy="365125"/>
          </a:xfrm>
        </p:spPr>
        <p:txBody>
          <a:bodyPr rtlCol="0"/>
          <a:lstStyle/>
          <a:p>
            <a:endParaRPr kumimoji="0"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106B4A3-4212-4E39-93DE-E053E8F69C28}" type="datetimeFigureOut">
              <a:rPr lang="en-US" smtClean="0"/>
              <a:pPr/>
              <a:t>5/17/2012</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0106B4A3-4212-4E39-93DE-E053E8F69C28}" type="datetimeFigureOut">
              <a:rPr lang="en-US" smtClean="0"/>
              <a:pPr/>
              <a:t>5/17/2012</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A3DCDF73-85D2-4237-9B32-053DBDB0C312}"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0106B4A3-4212-4E39-93DE-E053E8F69C28}" type="datetimeFigureOut">
              <a:rPr lang="en-US" smtClean="0"/>
              <a:pPr/>
              <a:t>5/17/2012</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kumimoji="0"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A3DCDF73-85D2-4237-9B32-053DBDB0C312}" type="slidenum">
              <a:rPr kumimoji="0" lang="en-US" smtClean="0"/>
              <a:pPr/>
              <a:t>‹#›</a:t>
            </a:fld>
            <a:endParaRPr kumimoji="0" lang="en-US"/>
          </a:p>
        </p:txBody>
      </p:sp>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www.atlassian.com/software/jira/try/"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mailto:maija.laksa@ebit.lv"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hyperlink" Target="http://www.ebit.l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lv-LV" dirty="0" smtClean="0"/>
              <a:t>JIRA as a TOOL </a:t>
            </a:r>
            <a:br>
              <a:rPr lang="lv-LV" dirty="0" smtClean="0"/>
            </a:br>
            <a:r>
              <a:rPr lang="lv-LV" dirty="0" smtClean="0"/>
              <a:t>For Test MANAGEMENT</a:t>
            </a:r>
            <a:endParaRPr lang="lv-LV" dirty="0"/>
          </a:p>
        </p:txBody>
      </p:sp>
      <p:sp>
        <p:nvSpPr>
          <p:cNvPr id="3" name="Subtitle 2"/>
          <p:cNvSpPr>
            <a:spLocks noGrp="1"/>
          </p:cNvSpPr>
          <p:nvPr>
            <p:ph type="subTitle" idx="1"/>
          </p:nvPr>
        </p:nvSpPr>
        <p:spPr/>
        <p:txBody>
          <a:bodyPr/>
          <a:lstStyle/>
          <a:p>
            <a:r>
              <a:rPr lang="lv-LV" dirty="0" smtClean="0"/>
              <a:t>Maija Ļaksa, SIA eBIT</a:t>
            </a:r>
            <a:endParaRPr lang="lv-LV"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lv-LV" dirty="0" smtClean="0"/>
              <a:t>Products by Atlassian</a:t>
            </a:r>
            <a:endParaRPr lang="lv-LV" dirty="0"/>
          </a:p>
        </p:txBody>
      </p:sp>
      <p:pic>
        <p:nvPicPr>
          <p:cNvPr id="1026" name="Picture 2"/>
          <p:cNvPicPr>
            <a:picLocks noGrp="1" noChangeAspect="1" noChangeArrowheads="1"/>
          </p:cNvPicPr>
          <p:nvPr>
            <p:ph sz="quarter" idx="1"/>
          </p:nvPr>
        </p:nvPicPr>
        <p:blipFill>
          <a:blip r:embed="rId3" cstate="print"/>
          <a:srcRect/>
          <a:stretch>
            <a:fillRect/>
          </a:stretch>
        </p:blipFill>
        <p:spPr bwMode="auto">
          <a:xfrm>
            <a:off x="2147098" y="1600200"/>
            <a:ext cx="5017190" cy="5167920"/>
          </a:xfrm>
          <a:prstGeom prst="rect">
            <a:avLst/>
          </a:prstGeom>
          <a:noFill/>
          <a:ln w="9525">
            <a:noFill/>
            <a:miter lim="800000"/>
            <a:headEnd/>
            <a:tailEnd/>
          </a:ln>
        </p:spPr>
      </p:pic>
      <p:pic>
        <p:nvPicPr>
          <p:cNvPr id="4" name="Picture 3" descr="logoLandingBamboo.png"/>
          <p:cNvPicPr>
            <a:picLocks noChangeAspect="1"/>
          </p:cNvPicPr>
          <p:nvPr/>
        </p:nvPicPr>
        <p:blipFill>
          <a:blip r:embed="rId4" cstate="print"/>
          <a:stretch>
            <a:fillRect/>
          </a:stretch>
        </p:blipFill>
        <p:spPr>
          <a:xfrm>
            <a:off x="7020272" y="1988841"/>
            <a:ext cx="1671638" cy="428625"/>
          </a:xfrm>
          <a:prstGeom prst="rect">
            <a:avLst/>
          </a:prstGeom>
        </p:spPr>
      </p:pic>
      <p:pic>
        <p:nvPicPr>
          <p:cNvPr id="5" name="Picture 4" descr="logoLandingBonfire.png"/>
          <p:cNvPicPr>
            <a:picLocks noChangeAspect="1"/>
          </p:cNvPicPr>
          <p:nvPr/>
        </p:nvPicPr>
        <p:blipFill>
          <a:blip r:embed="rId5" cstate="print"/>
          <a:stretch>
            <a:fillRect/>
          </a:stretch>
        </p:blipFill>
        <p:spPr>
          <a:xfrm>
            <a:off x="648692" y="2971229"/>
            <a:ext cx="1042988" cy="385763"/>
          </a:xfrm>
          <a:prstGeom prst="rect">
            <a:avLst/>
          </a:prstGeom>
        </p:spPr>
      </p:pic>
      <p:pic>
        <p:nvPicPr>
          <p:cNvPr id="6" name="Picture 5" descr="logoLandingClover.png"/>
          <p:cNvPicPr>
            <a:picLocks noChangeAspect="1"/>
          </p:cNvPicPr>
          <p:nvPr/>
        </p:nvPicPr>
        <p:blipFill>
          <a:blip r:embed="rId6" cstate="print"/>
          <a:stretch>
            <a:fillRect/>
          </a:stretch>
        </p:blipFill>
        <p:spPr>
          <a:xfrm>
            <a:off x="7308305" y="3143251"/>
            <a:ext cx="1285875" cy="428625"/>
          </a:xfrm>
          <a:prstGeom prst="rect">
            <a:avLst/>
          </a:prstGeom>
        </p:spPr>
      </p:pic>
      <p:pic>
        <p:nvPicPr>
          <p:cNvPr id="7" name="Picture 6" descr="logoLandingConfluence.png"/>
          <p:cNvPicPr>
            <a:picLocks noChangeAspect="1"/>
          </p:cNvPicPr>
          <p:nvPr/>
        </p:nvPicPr>
        <p:blipFill>
          <a:blip r:embed="rId7" cstate="print"/>
          <a:stretch>
            <a:fillRect/>
          </a:stretch>
        </p:blipFill>
        <p:spPr>
          <a:xfrm>
            <a:off x="539552" y="5157192"/>
            <a:ext cx="2486025" cy="528638"/>
          </a:xfrm>
          <a:prstGeom prst="rect">
            <a:avLst/>
          </a:prstGeom>
        </p:spPr>
      </p:pic>
      <p:pic>
        <p:nvPicPr>
          <p:cNvPr id="8" name="Picture 7" descr="logoLandingCrucible.png"/>
          <p:cNvPicPr>
            <a:picLocks noChangeAspect="1"/>
          </p:cNvPicPr>
          <p:nvPr/>
        </p:nvPicPr>
        <p:blipFill>
          <a:blip r:embed="rId8" cstate="print"/>
          <a:stretch>
            <a:fillRect/>
          </a:stretch>
        </p:blipFill>
        <p:spPr>
          <a:xfrm>
            <a:off x="6948264" y="4293097"/>
            <a:ext cx="1543050" cy="428625"/>
          </a:xfrm>
          <a:prstGeom prst="rect">
            <a:avLst/>
          </a:prstGeom>
        </p:spPr>
      </p:pic>
      <p:pic>
        <p:nvPicPr>
          <p:cNvPr id="9" name="Picture 8" descr="logoLandingFishEye.png"/>
          <p:cNvPicPr>
            <a:picLocks noChangeAspect="1"/>
          </p:cNvPicPr>
          <p:nvPr/>
        </p:nvPicPr>
        <p:blipFill>
          <a:blip r:embed="rId9" cstate="print"/>
          <a:stretch>
            <a:fillRect/>
          </a:stretch>
        </p:blipFill>
        <p:spPr>
          <a:xfrm>
            <a:off x="6300192" y="5486946"/>
            <a:ext cx="1543050" cy="428625"/>
          </a:xfrm>
          <a:prstGeom prst="rect">
            <a:avLst/>
          </a:prstGeom>
        </p:spPr>
      </p:pic>
      <p:pic>
        <p:nvPicPr>
          <p:cNvPr id="10" name="Picture 9" descr="logoLandingGreenHopper.png"/>
          <p:cNvPicPr>
            <a:picLocks noChangeAspect="1"/>
          </p:cNvPicPr>
          <p:nvPr/>
        </p:nvPicPr>
        <p:blipFill>
          <a:blip r:embed="rId10" cstate="print"/>
          <a:stretch>
            <a:fillRect/>
          </a:stretch>
        </p:blipFill>
        <p:spPr>
          <a:xfrm>
            <a:off x="351507" y="4123357"/>
            <a:ext cx="1700213" cy="385763"/>
          </a:xfrm>
          <a:prstGeom prst="rect">
            <a:avLst/>
          </a:prstGeom>
        </p:spPr>
      </p:pic>
      <p:pic>
        <p:nvPicPr>
          <p:cNvPr id="11" name="Picture 10" descr="logoLandingJIRA.png"/>
          <p:cNvPicPr>
            <a:picLocks noChangeAspect="1"/>
          </p:cNvPicPr>
          <p:nvPr/>
        </p:nvPicPr>
        <p:blipFill>
          <a:blip r:embed="rId11" cstate="print"/>
          <a:stretch>
            <a:fillRect/>
          </a:stretch>
        </p:blipFill>
        <p:spPr>
          <a:xfrm>
            <a:off x="899592" y="1693850"/>
            <a:ext cx="1600200" cy="704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JIRA Concepts of Issue Tracking</a:t>
            </a:r>
            <a:endParaRPr lang="lv-LV" dirty="0"/>
          </a:p>
        </p:txBody>
      </p:sp>
      <p:sp>
        <p:nvSpPr>
          <p:cNvPr id="4" name="Content Placeholder 3"/>
          <p:cNvSpPr>
            <a:spLocks noGrp="1"/>
          </p:cNvSpPr>
          <p:nvPr>
            <p:ph sz="quarter" idx="1"/>
          </p:nvPr>
        </p:nvSpPr>
        <p:spPr/>
        <p:txBody>
          <a:bodyPr>
            <a:normAutofit/>
          </a:bodyPr>
          <a:lstStyle/>
          <a:p>
            <a:r>
              <a:rPr lang="lv-LV" dirty="0" smtClean="0"/>
              <a:t>Issue types</a:t>
            </a:r>
          </a:p>
        </p:txBody>
      </p:sp>
      <p:pic>
        <p:nvPicPr>
          <p:cNvPr id="3078" name="Picture 6"/>
          <p:cNvPicPr>
            <a:picLocks noChangeAspect="1" noChangeArrowheads="1"/>
          </p:cNvPicPr>
          <p:nvPr/>
        </p:nvPicPr>
        <p:blipFill>
          <a:blip r:embed="rId3" cstate="print"/>
          <a:srcRect/>
          <a:stretch>
            <a:fillRect/>
          </a:stretch>
        </p:blipFill>
        <p:spPr bwMode="auto">
          <a:xfrm>
            <a:off x="2483768" y="2626965"/>
            <a:ext cx="4238625" cy="2962275"/>
          </a:xfrm>
          <a:prstGeom prst="rect">
            <a:avLst/>
          </a:prstGeom>
          <a:noFill/>
          <a:ln w="9525">
            <a:noFill/>
            <a:miter lim="800000"/>
            <a:headEnd/>
            <a:tailEnd/>
          </a:ln>
        </p:spPr>
      </p:pic>
      <p:sp>
        <p:nvSpPr>
          <p:cNvPr id="11" name="Flowchart: Alternate Process 10"/>
          <p:cNvSpPr/>
          <p:nvPr/>
        </p:nvSpPr>
        <p:spPr>
          <a:xfrm>
            <a:off x="2411760" y="3311878"/>
            <a:ext cx="2232248" cy="227736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15" name="Picture 14" descr="red-arrow (1).png"/>
          <p:cNvPicPr>
            <a:picLocks noChangeAspect="1"/>
          </p:cNvPicPr>
          <p:nvPr/>
        </p:nvPicPr>
        <p:blipFill>
          <a:blip r:embed="rId4" cstate="print"/>
          <a:stretch>
            <a:fillRect/>
          </a:stretch>
        </p:blipFill>
        <p:spPr>
          <a:xfrm rot="18810977">
            <a:off x="1698466" y="1861477"/>
            <a:ext cx="647161" cy="20490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2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wedge">
                                      <p:cBhvr>
                                        <p:cTn id="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lv-LV" dirty="0" smtClean="0"/>
              <a:t>JIRA Workflow Concept</a:t>
            </a:r>
            <a:endParaRPr lang="lv-LV" dirty="0"/>
          </a:p>
        </p:txBody>
      </p:sp>
      <p:pic>
        <p:nvPicPr>
          <p:cNvPr id="1027" name="Picture 3"/>
          <p:cNvPicPr>
            <a:picLocks noChangeAspect="1" noChangeArrowheads="1"/>
          </p:cNvPicPr>
          <p:nvPr/>
        </p:nvPicPr>
        <p:blipFill>
          <a:blip r:embed="rId3" cstate="print"/>
          <a:srcRect/>
          <a:stretch>
            <a:fillRect/>
          </a:stretch>
        </p:blipFill>
        <p:spPr bwMode="auto">
          <a:xfrm>
            <a:off x="1081506" y="1565606"/>
            <a:ext cx="7378926" cy="52203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JIRA Issue Relationships</a:t>
            </a:r>
            <a:endParaRPr lang="lv-LV" dirty="0"/>
          </a:p>
        </p:txBody>
      </p:sp>
      <p:sp>
        <p:nvSpPr>
          <p:cNvPr id="3" name="Content Placeholder 2"/>
          <p:cNvSpPr>
            <a:spLocks noGrp="1"/>
          </p:cNvSpPr>
          <p:nvPr>
            <p:ph sz="quarter" idx="1"/>
          </p:nvPr>
        </p:nvSpPr>
        <p:spPr/>
        <p:txBody>
          <a:bodyPr/>
          <a:lstStyle/>
          <a:p>
            <a:r>
              <a:rPr lang="lv-LV" dirty="0" smtClean="0"/>
              <a:t>Main issues</a:t>
            </a:r>
          </a:p>
          <a:p>
            <a:endParaRPr lang="lv-LV" dirty="0" smtClean="0"/>
          </a:p>
          <a:p>
            <a:r>
              <a:rPr lang="lv-LV" dirty="0" smtClean="0"/>
              <a:t>Sub-tasks</a:t>
            </a:r>
          </a:p>
          <a:p>
            <a:endParaRPr lang="lv-LV" dirty="0" smtClean="0"/>
          </a:p>
          <a:p>
            <a:r>
              <a:rPr lang="lv-LV" dirty="0" smtClean="0"/>
              <a:t>Links</a:t>
            </a:r>
            <a:endParaRPr lang="lv-LV" dirty="0"/>
          </a:p>
        </p:txBody>
      </p:sp>
      <p:pic>
        <p:nvPicPr>
          <p:cNvPr id="4" name="Picture 3"/>
          <p:cNvPicPr>
            <a:picLocks noChangeAspect="1" noChangeArrowheads="1"/>
          </p:cNvPicPr>
          <p:nvPr/>
        </p:nvPicPr>
        <p:blipFill>
          <a:blip r:embed="rId3" cstate="print"/>
          <a:srcRect/>
          <a:stretch>
            <a:fillRect/>
          </a:stretch>
        </p:blipFill>
        <p:spPr bwMode="auto">
          <a:xfrm>
            <a:off x="3045271" y="2759918"/>
            <a:ext cx="5991225" cy="3981450"/>
          </a:xfrm>
          <a:prstGeom prst="rect">
            <a:avLst/>
          </a:prstGeom>
          <a:noFill/>
          <a:ln w="9525">
            <a:noFill/>
            <a:miter lim="800000"/>
            <a:headEnd/>
            <a:tailEnd/>
          </a:ln>
        </p:spPr>
      </p:pic>
      <p:pic>
        <p:nvPicPr>
          <p:cNvPr id="11" name="Picture 10" descr="red-arrow (1).png"/>
          <p:cNvPicPr>
            <a:picLocks noChangeAspect="1"/>
          </p:cNvPicPr>
          <p:nvPr/>
        </p:nvPicPr>
        <p:blipFill>
          <a:blip r:embed="rId4" cstate="print"/>
          <a:stretch>
            <a:fillRect/>
          </a:stretch>
        </p:blipFill>
        <p:spPr>
          <a:xfrm rot="16559744">
            <a:off x="3060873" y="2097661"/>
            <a:ext cx="511013" cy="1708894"/>
          </a:xfrm>
          <a:prstGeom prst="rect">
            <a:avLst/>
          </a:prstGeom>
        </p:spPr>
      </p:pic>
      <p:sp>
        <p:nvSpPr>
          <p:cNvPr id="7" name="Flowchart: Alternate Process 6"/>
          <p:cNvSpPr/>
          <p:nvPr/>
        </p:nvSpPr>
        <p:spPr>
          <a:xfrm>
            <a:off x="5997599" y="5334621"/>
            <a:ext cx="792088" cy="504056"/>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8" name="Flowchart: Alternate Process 7"/>
          <p:cNvSpPr/>
          <p:nvPr/>
        </p:nvSpPr>
        <p:spPr>
          <a:xfrm>
            <a:off x="3837359" y="3912046"/>
            <a:ext cx="792088" cy="28803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9" name="Flowchart: Alternate Process 8"/>
          <p:cNvSpPr/>
          <p:nvPr/>
        </p:nvSpPr>
        <p:spPr>
          <a:xfrm>
            <a:off x="5098333" y="4236916"/>
            <a:ext cx="792088"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12" name="Flowchart: Alternate Process 11"/>
          <p:cNvSpPr/>
          <p:nvPr/>
        </p:nvSpPr>
        <p:spPr>
          <a:xfrm>
            <a:off x="5098333" y="3100705"/>
            <a:ext cx="792088"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13" name="Picture 12" descr="red-arrow (1).png"/>
          <p:cNvPicPr>
            <a:picLocks noChangeAspect="1"/>
          </p:cNvPicPr>
          <p:nvPr/>
        </p:nvPicPr>
        <p:blipFill>
          <a:blip r:embed="rId4" cstate="print"/>
          <a:stretch>
            <a:fillRect/>
          </a:stretch>
        </p:blipFill>
        <p:spPr>
          <a:xfrm rot="18610129">
            <a:off x="2596745" y="1770388"/>
            <a:ext cx="460495" cy="1539954"/>
          </a:xfrm>
          <a:prstGeom prst="rect">
            <a:avLst/>
          </a:prstGeom>
        </p:spPr>
      </p:pic>
      <p:pic>
        <p:nvPicPr>
          <p:cNvPr id="14" name="Picture 13" descr="red-arrow (1).png"/>
          <p:cNvPicPr>
            <a:picLocks noChangeAspect="1"/>
          </p:cNvPicPr>
          <p:nvPr/>
        </p:nvPicPr>
        <p:blipFill>
          <a:blip r:embed="rId4" cstate="print"/>
          <a:stretch>
            <a:fillRect/>
          </a:stretch>
        </p:blipFill>
        <p:spPr>
          <a:xfrm rot="18658148">
            <a:off x="4646566" y="1483817"/>
            <a:ext cx="542978" cy="1815789"/>
          </a:xfrm>
          <a:prstGeom prst="rect">
            <a:avLst/>
          </a:prstGeom>
        </p:spPr>
      </p:pic>
      <p:sp>
        <p:nvSpPr>
          <p:cNvPr id="15" name="Flowchart: Alternate Process 14"/>
          <p:cNvSpPr/>
          <p:nvPr/>
        </p:nvSpPr>
        <p:spPr>
          <a:xfrm>
            <a:off x="2973263" y="3119958"/>
            <a:ext cx="792088"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16" name="Flowchart: Alternate Process 15"/>
          <p:cNvSpPr/>
          <p:nvPr/>
        </p:nvSpPr>
        <p:spPr>
          <a:xfrm>
            <a:off x="2973263" y="4272086"/>
            <a:ext cx="792088"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7" presetID="20"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animEffect transition="in" filter="wedge">
                                      <p:cBhvr>
                                        <p:cTn id="9" dur="10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par>
                                <p:cTn id="10" presetID="20"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edge">
                                      <p:cBhvr>
                                        <p:cTn id="12" dur="10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17" presetID="2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edge">
                                      <p:cBhvr>
                                        <p:cTn id="19" dur="10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20" presetID="2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edge">
                                      <p:cBhvr>
                                        <p:cTn id="22" dur="10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2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edge">
                                      <p:cBhvr>
                                        <p:cTn id="29" dur="1000"/>
                                        <p:tgtEl>
                                          <p:spTgt spid="9"/>
                                        </p:tgtEl>
                                      </p:cBhvr>
                                    </p:animEffect>
                                  </p:childTnLst>
                                </p:cTn>
                              </p:par>
                              <p:par>
                                <p:cTn id="30" presetID="2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edge">
                                      <p:cBhvr>
                                        <p:cTn id="3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Versions in JIRA</a:t>
            </a:r>
            <a:endParaRPr lang="lv-LV" dirty="0"/>
          </a:p>
        </p:txBody>
      </p:sp>
      <p:pic>
        <p:nvPicPr>
          <p:cNvPr id="2051" name="Picture 3"/>
          <p:cNvPicPr>
            <a:picLocks noChangeAspect="1" noChangeArrowheads="1"/>
          </p:cNvPicPr>
          <p:nvPr/>
        </p:nvPicPr>
        <p:blipFill>
          <a:blip r:embed="rId3" cstate="print"/>
          <a:srcRect/>
          <a:stretch>
            <a:fillRect/>
          </a:stretch>
        </p:blipFill>
        <p:spPr bwMode="auto">
          <a:xfrm>
            <a:off x="1403648" y="1916832"/>
            <a:ext cx="6241926" cy="380223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lv-LV" dirty="0" smtClean="0"/>
              <a:t>Issue Types for Test Management</a:t>
            </a:r>
            <a:endParaRPr lang="lv-LV" dirty="0"/>
          </a:p>
        </p:txBody>
      </p:sp>
      <p:pic>
        <p:nvPicPr>
          <p:cNvPr id="5124" name="Picture 4"/>
          <p:cNvPicPr>
            <a:picLocks noChangeAspect="1" noChangeArrowheads="1"/>
          </p:cNvPicPr>
          <p:nvPr/>
        </p:nvPicPr>
        <p:blipFill>
          <a:blip r:embed="rId3" cstate="print"/>
          <a:stretch>
            <a:fillRect/>
          </a:stretch>
        </p:blipFill>
        <p:spPr bwMode="auto">
          <a:xfrm>
            <a:off x="3491880" y="4571196"/>
            <a:ext cx="4445318" cy="1882140"/>
          </a:xfrm>
          <a:prstGeom prst="rect">
            <a:avLst/>
          </a:prstGeom>
          <a:noFill/>
          <a:ln w="9525">
            <a:noFill/>
            <a:miter lim="800000"/>
            <a:headEnd/>
            <a:tailEnd/>
          </a:ln>
        </p:spPr>
      </p:pic>
      <p:pic>
        <p:nvPicPr>
          <p:cNvPr id="5125" name="Picture 5"/>
          <p:cNvPicPr>
            <a:picLocks noChangeAspect="1" noChangeArrowheads="1"/>
          </p:cNvPicPr>
          <p:nvPr/>
        </p:nvPicPr>
        <p:blipFill>
          <a:blip r:embed="rId4" cstate="print"/>
          <a:stretch>
            <a:fillRect/>
          </a:stretch>
        </p:blipFill>
        <p:spPr bwMode="auto">
          <a:xfrm>
            <a:off x="1847478" y="1700808"/>
            <a:ext cx="2699385" cy="2501265"/>
          </a:xfrm>
          <a:prstGeom prst="rect">
            <a:avLst/>
          </a:prstGeom>
          <a:noFill/>
          <a:ln w="9525">
            <a:noFill/>
            <a:miter lim="800000"/>
            <a:headEnd/>
            <a:tailEnd/>
          </a:ln>
        </p:spPr>
      </p:pic>
      <p:sp>
        <p:nvSpPr>
          <p:cNvPr id="7" name="Flowchart: Alternate Process 6"/>
          <p:cNvSpPr/>
          <p:nvPr/>
        </p:nvSpPr>
        <p:spPr>
          <a:xfrm>
            <a:off x="1835696" y="2276873"/>
            <a:ext cx="2808312"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8" name="Flowchart: Alternate Process 7"/>
          <p:cNvSpPr/>
          <p:nvPr/>
        </p:nvSpPr>
        <p:spPr>
          <a:xfrm>
            <a:off x="4860032" y="5805264"/>
            <a:ext cx="3312368" cy="72008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10" name="Picture 9" descr="red-arrow (1).png"/>
          <p:cNvPicPr>
            <a:picLocks noChangeAspect="1"/>
          </p:cNvPicPr>
          <p:nvPr/>
        </p:nvPicPr>
        <p:blipFill>
          <a:blip r:embed="rId5" cstate="print"/>
          <a:stretch>
            <a:fillRect/>
          </a:stretch>
        </p:blipFill>
        <p:spPr>
          <a:xfrm rot="18609205">
            <a:off x="1202625" y="1469231"/>
            <a:ext cx="542978" cy="1430173"/>
          </a:xfrm>
          <a:prstGeom prst="rect">
            <a:avLst/>
          </a:prstGeom>
        </p:spPr>
      </p:pic>
      <p:pic>
        <p:nvPicPr>
          <p:cNvPr id="11" name="Picture 10" descr="red-arrow (1).png"/>
          <p:cNvPicPr>
            <a:picLocks noChangeAspect="1"/>
          </p:cNvPicPr>
          <p:nvPr/>
        </p:nvPicPr>
        <p:blipFill>
          <a:blip r:embed="rId5" cstate="print"/>
          <a:stretch>
            <a:fillRect/>
          </a:stretch>
        </p:blipFill>
        <p:spPr>
          <a:xfrm rot="18053832">
            <a:off x="4140973" y="5186279"/>
            <a:ext cx="542978" cy="14301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2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edg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4" presetID="2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edg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lv-LV" dirty="0" smtClean="0"/>
              <a:t>Testing Phases</a:t>
            </a:r>
            <a:endParaRPr lang="lv-LV" dirty="0"/>
          </a:p>
        </p:txBody>
      </p:sp>
      <p:pic>
        <p:nvPicPr>
          <p:cNvPr id="5" name="Picture 4"/>
          <p:cNvPicPr>
            <a:picLocks noChangeAspect="1" noChangeArrowheads="1"/>
          </p:cNvPicPr>
          <p:nvPr/>
        </p:nvPicPr>
        <p:blipFill>
          <a:blip r:embed="rId3" cstate="print"/>
          <a:srcRect/>
          <a:stretch>
            <a:fillRect/>
          </a:stretch>
        </p:blipFill>
        <p:spPr bwMode="auto">
          <a:xfrm>
            <a:off x="251520" y="1628800"/>
            <a:ext cx="8667750" cy="2438400"/>
          </a:xfrm>
          <a:prstGeom prst="rect">
            <a:avLst/>
          </a:prstGeom>
          <a:noFill/>
          <a:ln w="9525">
            <a:noFill/>
            <a:miter lim="800000"/>
            <a:headEnd/>
            <a:tailEnd/>
          </a:ln>
        </p:spPr>
      </p:pic>
      <p:pic>
        <p:nvPicPr>
          <p:cNvPr id="6146" name="Picture 2"/>
          <p:cNvPicPr>
            <a:picLocks noChangeAspect="1" noChangeArrowheads="1"/>
          </p:cNvPicPr>
          <p:nvPr/>
        </p:nvPicPr>
        <p:blipFill>
          <a:blip r:embed="rId4" cstate="print"/>
          <a:srcRect/>
          <a:stretch>
            <a:fillRect/>
          </a:stretch>
        </p:blipFill>
        <p:spPr bwMode="auto">
          <a:xfrm>
            <a:off x="2483768" y="4434036"/>
            <a:ext cx="6210300" cy="2019300"/>
          </a:xfrm>
          <a:prstGeom prst="rect">
            <a:avLst/>
          </a:prstGeom>
          <a:noFill/>
          <a:ln w="9525">
            <a:noFill/>
            <a:miter lim="800000"/>
            <a:headEnd/>
            <a:tailEnd/>
          </a:ln>
        </p:spPr>
      </p:pic>
      <p:sp>
        <p:nvSpPr>
          <p:cNvPr id="10" name="Flowchart: Alternate Process 9"/>
          <p:cNvSpPr/>
          <p:nvPr/>
        </p:nvSpPr>
        <p:spPr>
          <a:xfrm>
            <a:off x="2627784" y="5229200"/>
            <a:ext cx="2376264" cy="1224136"/>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12" name="Flowchart: Alternate Process 11"/>
          <p:cNvSpPr/>
          <p:nvPr/>
        </p:nvSpPr>
        <p:spPr>
          <a:xfrm>
            <a:off x="323528" y="3068960"/>
            <a:ext cx="8496944" cy="79208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9" name="Picture 8" descr="red-arrow (1).png"/>
          <p:cNvPicPr>
            <a:picLocks noChangeAspect="1"/>
          </p:cNvPicPr>
          <p:nvPr/>
        </p:nvPicPr>
        <p:blipFill>
          <a:blip r:embed="rId5" cstate="print"/>
          <a:stretch>
            <a:fillRect/>
          </a:stretch>
        </p:blipFill>
        <p:spPr>
          <a:xfrm rot="18779475">
            <a:off x="1949942" y="4416086"/>
            <a:ext cx="542978" cy="1430173"/>
          </a:xfrm>
          <a:prstGeom prst="rect">
            <a:avLst/>
          </a:prstGeom>
        </p:spPr>
      </p:pic>
      <p:pic>
        <p:nvPicPr>
          <p:cNvPr id="11" name="Picture 10" descr="red-arrow (1).png"/>
          <p:cNvPicPr>
            <a:picLocks noChangeAspect="1"/>
          </p:cNvPicPr>
          <p:nvPr/>
        </p:nvPicPr>
        <p:blipFill>
          <a:blip r:embed="rId5" cstate="print"/>
          <a:stretch>
            <a:fillRect/>
          </a:stretch>
        </p:blipFill>
        <p:spPr>
          <a:xfrm rot="13904052" flipV="1">
            <a:off x="2051546" y="2022291"/>
            <a:ext cx="542978" cy="14301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7" presetID="2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edge">
                                      <p:cBhvr>
                                        <p:cTn id="9" dur="10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14" presetID="2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edg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lv-LV" dirty="0" smtClean="0"/>
              <a:t>JIRA Issue View</a:t>
            </a:r>
            <a:endParaRPr lang="lv-LV" dirty="0"/>
          </a:p>
        </p:txBody>
      </p:sp>
      <p:pic>
        <p:nvPicPr>
          <p:cNvPr id="1028" name="Picture 4"/>
          <p:cNvPicPr>
            <a:picLocks noChangeAspect="1" noChangeArrowheads="1"/>
          </p:cNvPicPr>
          <p:nvPr/>
        </p:nvPicPr>
        <p:blipFill>
          <a:blip r:embed="rId3" cstate="print"/>
          <a:srcRect/>
          <a:stretch>
            <a:fillRect/>
          </a:stretch>
        </p:blipFill>
        <p:spPr bwMode="auto">
          <a:xfrm>
            <a:off x="107504" y="1628800"/>
            <a:ext cx="8987244" cy="4752528"/>
          </a:xfrm>
          <a:prstGeom prst="rect">
            <a:avLst/>
          </a:prstGeom>
          <a:noFill/>
          <a:ln w="9525">
            <a:noFill/>
            <a:miter lim="800000"/>
            <a:headEnd/>
            <a:tailEnd/>
          </a:ln>
        </p:spPr>
      </p:pic>
      <p:pic>
        <p:nvPicPr>
          <p:cNvPr id="8" name="Picture 7" descr="red-arrow (1).png"/>
          <p:cNvPicPr>
            <a:picLocks noChangeAspect="1"/>
          </p:cNvPicPr>
          <p:nvPr/>
        </p:nvPicPr>
        <p:blipFill>
          <a:blip r:embed="rId4" cstate="print"/>
          <a:stretch>
            <a:fillRect/>
          </a:stretch>
        </p:blipFill>
        <p:spPr>
          <a:xfrm rot="13641499" flipV="1">
            <a:off x="2661044" y="3261520"/>
            <a:ext cx="542978" cy="1430173"/>
          </a:xfrm>
          <a:prstGeom prst="rect">
            <a:avLst/>
          </a:prstGeom>
        </p:spPr>
      </p:pic>
      <p:pic>
        <p:nvPicPr>
          <p:cNvPr id="9" name="Picture 8" descr="red-arrow (1).png"/>
          <p:cNvPicPr>
            <a:picLocks noChangeAspect="1"/>
          </p:cNvPicPr>
          <p:nvPr/>
        </p:nvPicPr>
        <p:blipFill>
          <a:blip r:embed="rId4" cstate="print"/>
          <a:stretch>
            <a:fillRect/>
          </a:stretch>
        </p:blipFill>
        <p:spPr>
          <a:xfrm rot="13641499" flipV="1">
            <a:off x="3347690" y="4254539"/>
            <a:ext cx="542978" cy="1430173"/>
          </a:xfrm>
          <a:prstGeom prst="rect">
            <a:avLst/>
          </a:prstGeom>
        </p:spPr>
      </p:pic>
      <p:pic>
        <p:nvPicPr>
          <p:cNvPr id="11" name="Picture 10" descr="red-arrow (1).png"/>
          <p:cNvPicPr>
            <a:picLocks noChangeAspect="1"/>
          </p:cNvPicPr>
          <p:nvPr/>
        </p:nvPicPr>
        <p:blipFill>
          <a:blip r:embed="rId4" cstate="print"/>
          <a:stretch>
            <a:fillRect/>
          </a:stretch>
        </p:blipFill>
        <p:spPr>
          <a:xfrm rot="13641499" flipV="1">
            <a:off x="6045420" y="2469432"/>
            <a:ext cx="542978" cy="1430173"/>
          </a:xfrm>
          <a:prstGeom prst="rect">
            <a:avLst/>
          </a:prstGeom>
        </p:spPr>
      </p:pic>
      <p:sp>
        <p:nvSpPr>
          <p:cNvPr id="12" name="Flowchart: Alternate Process 11"/>
          <p:cNvSpPr/>
          <p:nvPr/>
        </p:nvSpPr>
        <p:spPr>
          <a:xfrm>
            <a:off x="179512" y="4149080"/>
            <a:ext cx="2304256" cy="100811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13" name="Flowchart: Alternate Process 12"/>
          <p:cNvSpPr/>
          <p:nvPr/>
        </p:nvSpPr>
        <p:spPr>
          <a:xfrm>
            <a:off x="179512" y="5301208"/>
            <a:ext cx="3024336" cy="108012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14" name="Flowchart: Alternate Process 13"/>
          <p:cNvSpPr/>
          <p:nvPr/>
        </p:nvSpPr>
        <p:spPr>
          <a:xfrm>
            <a:off x="3491880" y="3415352"/>
            <a:ext cx="2376264" cy="30168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15" name="Picture 14" descr="red-arrow (1).png"/>
          <p:cNvPicPr>
            <a:picLocks noChangeAspect="1"/>
          </p:cNvPicPr>
          <p:nvPr/>
        </p:nvPicPr>
        <p:blipFill>
          <a:blip r:embed="rId4" cstate="print"/>
          <a:stretch>
            <a:fillRect/>
          </a:stretch>
        </p:blipFill>
        <p:spPr>
          <a:xfrm rot="13641499" flipV="1">
            <a:off x="2771626" y="2022291"/>
            <a:ext cx="542978" cy="1430173"/>
          </a:xfrm>
          <a:prstGeom prst="rect">
            <a:avLst/>
          </a:prstGeom>
        </p:spPr>
      </p:pic>
      <p:sp>
        <p:nvSpPr>
          <p:cNvPr id="16" name="Flowchart: Alternate Process 15"/>
          <p:cNvSpPr/>
          <p:nvPr/>
        </p:nvSpPr>
        <p:spPr>
          <a:xfrm>
            <a:off x="1475656" y="2994629"/>
            <a:ext cx="1080120" cy="272939"/>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par>
                                <p:cTn id="7" presetID="20"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wedge">
                                      <p:cBhvr>
                                        <p:cTn id="9" dur="10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14" presetID="2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edge">
                                      <p:cBhvr>
                                        <p:cTn id="16" dur="1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21" presetID="2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edge">
                                      <p:cBhvr>
                                        <p:cTn id="23" dur="1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28" presetID="2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edge">
                                      <p:cBhvr>
                                        <p:cTn id="3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5" name="Picture 11"/>
          <p:cNvPicPr>
            <a:picLocks noChangeAspect="1" noChangeArrowheads="1"/>
          </p:cNvPicPr>
          <p:nvPr/>
        </p:nvPicPr>
        <p:blipFill>
          <a:blip r:embed="rId3" cstate="print"/>
          <a:srcRect/>
          <a:stretch>
            <a:fillRect/>
          </a:stretch>
        </p:blipFill>
        <p:spPr bwMode="auto">
          <a:xfrm>
            <a:off x="1306388" y="185738"/>
            <a:ext cx="7658100" cy="6486525"/>
          </a:xfrm>
          <a:prstGeom prst="rect">
            <a:avLst/>
          </a:prstGeom>
          <a:noFill/>
          <a:ln w="9525">
            <a:noFill/>
            <a:miter lim="800000"/>
            <a:headEnd/>
            <a:tailEnd/>
          </a:ln>
        </p:spPr>
      </p:pic>
      <p:sp>
        <p:nvSpPr>
          <p:cNvPr id="14" name="Title 13"/>
          <p:cNvSpPr>
            <a:spLocks noGrp="1"/>
          </p:cNvSpPr>
          <p:nvPr>
            <p:ph type="title"/>
          </p:nvPr>
        </p:nvSpPr>
        <p:spPr>
          <a:xfrm rot="16200000">
            <a:off x="-2421531" y="3005708"/>
            <a:ext cx="6048672" cy="990600"/>
          </a:xfrm>
        </p:spPr>
        <p:txBody>
          <a:bodyPr/>
          <a:lstStyle/>
          <a:p>
            <a:r>
              <a:rPr lang="lv-LV" dirty="0" smtClean="0"/>
              <a:t>Testing Workflow</a:t>
            </a:r>
            <a:endParaRPr lang="lv-LV"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lv-LV" dirty="0" smtClean="0"/>
              <a:t>Test Statuses</a:t>
            </a:r>
            <a:endParaRPr lang="lv-LV" dirty="0"/>
          </a:p>
        </p:txBody>
      </p:sp>
      <p:pic>
        <p:nvPicPr>
          <p:cNvPr id="7170" name="Picture 2"/>
          <p:cNvPicPr>
            <a:picLocks noChangeAspect="1" noChangeArrowheads="1"/>
          </p:cNvPicPr>
          <p:nvPr/>
        </p:nvPicPr>
        <p:blipFill>
          <a:blip r:embed="rId3" cstate="print"/>
          <a:srcRect/>
          <a:stretch>
            <a:fillRect/>
          </a:stretch>
        </p:blipFill>
        <p:spPr bwMode="auto">
          <a:xfrm>
            <a:off x="2267745" y="2276872"/>
            <a:ext cx="4619625" cy="2924175"/>
          </a:xfrm>
          <a:prstGeom prst="rect">
            <a:avLst/>
          </a:prstGeom>
          <a:noFill/>
          <a:ln w="9525">
            <a:noFill/>
            <a:miter lim="800000"/>
            <a:headEnd/>
            <a:tailEnd/>
          </a:ln>
        </p:spPr>
      </p:pic>
      <p:sp>
        <p:nvSpPr>
          <p:cNvPr id="8" name="Flowchart: Alternate Process 7"/>
          <p:cNvSpPr/>
          <p:nvPr/>
        </p:nvSpPr>
        <p:spPr>
          <a:xfrm>
            <a:off x="2411760" y="3573016"/>
            <a:ext cx="2088232" cy="1656184"/>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9" name="Picture 8" descr="red-arrow (1).png"/>
          <p:cNvPicPr>
            <a:picLocks noChangeAspect="1"/>
          </p:cNvPicPr>
          <p:nvPr/>
        </p:nvPicPr>
        <p:blipFill>
          <a:blip r:embed="rId4" cstate="print"/>
          <a:stretch>
            <a:fillRect/>
          </a:stretch>
        </p:blipFill>
        <p:spPr>
          <a:xfrm rot="18810977">
            <a:off x="1397772" y="2264452"/>
            <a:ext cx="647161" cy="20490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edg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72616"/>
            <a:ext cx="8153400" cy="990600"/>
          </a:xfrm>
        </p:spPr>
        <p:txBody>
          <a:bodyPr/>
          <a:lstStyle/>
          <a:p>
            <a:endParaRPr lang="lv-LV" dirty="0"/>
          </a:p>
        </p:txBody>
      </p:sp>
      <p:pic>
        <p:nvPicPr>
          <p:cNvPr id="2050" name="Picture 2"/>
          <p:cNvPicPr>
            <a:picLocks noChangeAspect="1" noChangeArrowheads="1"/>
          </p:cNvPicPr>
          <p:nvPr/>
        </p:nvPicPr>
        <p:blipFill>
          <a:blip r:embed="rId3" cstate="print"/>
          <a:srcRect/>
          <a:stretch>
            <a:fillRect/>
          </a:stretch>
        </p:blipFill>
        <p:spPr bwMode="auto">
          <a:xfrm>
            <a:off x="117623" y="386904"/>
            <a:ext cx="12087225" cy="6372225"/>
          </a:xfrm>
          <a:prstGeom prst="rect">
            <a:avLst/>
          </a:prstGeom>
          <a:noFill/>
          <a:ln w="9525">
            <a:noFill/>
            <a:miter lim="800000"/>
            <a:headEnd/>
            <a:tailEnd/>
          </a:ln>
        </p:spPr>
      </p:pic>
      <p:sp>
        <p:nvSpPr>
          <p:cNvPr id="5" name="Flowchart: Alternate Process 4"/>
          <p:cNvSpPr/>
          <p:nvPr/>
        </p:nvSpPr>
        <p:spPr>
          <a:xfrm>
            <a:off x="1475656" y="332656"/>
            <a:ext cx="2160240"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6" name="Flowchart: Alternate Process 5"/>
          <p:cNvSpPr/>
          <p:nvPr/>
        </p:nvSpPr>
        <p:spPr>
          <a:xfrm>
            <a:off x="107504" y="2708920"/>
            <a:ext cx="2664296" cy="144016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7" name="Flowchart: Alternate Process 6"/>
          <p:cNvSpPr/>
          <p:nvPr/>
        </p:nvSpPr>
        <p:spPr>
          <a:xfrm>
            <a:off x="1331640" y="1587856"/>
            <a:ext cx="1512168" cy="28803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8" name="Flowchart: Alternate Process 7"/>
          <p:cNvSpPr/>
          <p:nvPr/>
        </p:nvSpPr>
        <p:spPr>
          <a:xfrm>
            <a:off x="5868144" y="1628800"/>
            <a:ext cx="1512168" cy="64807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9" name="Flowchart: Alternate Process 8"/>
          <p:cNvSpPr/>
          <p:nvPr/>
        </p:nvSpPr>
        <p:spPr>
          <a:xfrm>
            <a:off x="4139952" y="908720"/>
            <a:ext cx="2592288" cy="504056"/>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10" name="Flowchart: Alternate Process 9"/>
          <p:cNvSpPr/>
          <p:nvPr/>
        </p:nvSpPr>
        <p:spPr>
          <a:xfrm>
            <a:off x="259904" y="4653136"/>
            <a:ext cx="8200528" cy="208823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11" name="Picture 10" descr="red-arrow (1).png"/>
          <p:cNvPicPr>
            <a:picLocks noChangeAspect="1"/>
          </p:cNvPicPr>
          <p:nvPr/>
        </p:nvPicPr>
        <p:blipFill>
          <a:blip r:embed="rId4" cstate="print"/>
          <a:stretch>
            <a:fillRect/>
          </a:stretch>
        </p:blipFill>
        <p:spPr>
          <a:xfrm rot="13641499" flipV="1">
            <a:off x="2771626" y="733734"/>
            <a:ext cx="542978" cy="1430173"/>
          </a:xfrm>
          <a:prstGeom prst="rect">
            <a:avLst/>
          </a:prstGeom>
        </p:spPr>
      </p:pic>
      <p:pic>
        <p:nvPicPr>
          <p:cNvPr id="12" name="Picture 11" descr="red-arrow (1).png"/>
          <p:cNvPicPr>
            <a:picLocks noChangeAspect="1"/>
          </p:cNvPicPr>
          <p:nvPr/>
        </p:nvPicPr>
        <p:blipFill>
          <a:blip r:embed="rId4" cstate="print"/>
          <a:stretch>
            <a:fillRect/>
          </a:stretch>
        </p:blipFill>
        <p:spPr>
          <a:xfrm rot="15002196" flipV="1">
            <a:off x="3751725" y="-315158"/>
            <a:ext cx="542978" cy="1430173"/>
          </a:xfrm>
          <a:prstGeom prst="rect">
            <a:avLst/>
          </a:prstGeom>
        </p:spPr>
      </p:pic>
      <p:pic>
        <p:nvPicPr>
          <p:cNvPr id="13" name="Picture 12" descr="red-arrow (1).png"/>
          <p:cNvPicPr>
            <a:picLocks noChangeAspect="1"/>
          </p:cNvPicPr>
          <p:nvPr/>
        </p:nvPicPr>
        <p:blipFill>
          <a:blip r:embed="rId4" cstate="print"/>
          <a:stretch>
            <a:fillRect/>
          </a:stretch>
        </p:blipFill>
        <p:spPr>
          <a:xfrm rot="13641499" flipV="1">
            <a:off x="7530721" y="877750"/>
            <a:ext cx="542978" cy="1430173"/>
          </a:xfrm>
          <a:prstGeom prst="rect">
            <a:avLst/>
          </a:prstGeom>
        </p:spPr>
      </p:pic>
      <p:pic>
        <p:nvPicPr>
          <p:cNvPr id="14" name="Picture 13" descr="red-arrow (1).png"/>
          <p:cNvPicPr>
            <a:picLocks noChangeAspect="1"/>
          </p:cNvPicPr>
          <p:nvPr/>
        </p:nvPicPr>
        <p:blipFill>
          <a:blip r:embed="rId4" cstate="print"/>
          <a:stretch>
            <a:fillRect/>
          </a:stretch>
        </p:blipFill>
        <p:spPr>
          <a:xfrm rot="13641499" flipV="1">
            <a:off x="6882648" y="157669"/>
            <a:ext cx="542978" cy="1430173"/>
          </a:xfrm>
          <a:prstGeom prst="rect">
            <a:avLst/>
          </a:prstGeom>
        </p:spPr>
      </p:pic>
      <p:pic>
        <p:nvPicPr>
          <p:cNvPr id="15" name="Picture 14" descr="red-arrow (1).png"/>
          <p:cNvPicPr>
            <a:picLocks noChangeAspect="1"/>
          </p:cNvPicPr>
          <p:nvPr/>
        </p:nvPicPr>
        <p:blipFill>
          <a:blip r:embed="rId4" cstate="print"/>
          <a:stretch>
            <a:fillRect/>
          </a:stretch>
        </p:blipFill>
        <p:spPr>
          <a:xfrm rot="13641499" flipV="1">
            <a:off x="2850202" y="2029878"/>
            <a:ext cx="542978" cy="1430173"/>
          </a:xfrm>
          <a:prstGeom prst="rect">
            <a:avLst/>
          </a:prstGeom>
        </p:spPr>
      </p:pic>
      <p:pic>
        <p:nvPicPr>
          <p:cNvPr id="16" name="Picture 15" descr="red-arrow (1).png"/>
          <p:cNvPicPr>
            <a:picLocks noChangeAspect="1"/>
          </p:cNvPicPr>
          <p:nvPr/>
        </p:nvPicPr>
        <p:blipFill>
          <a:blip r:embed="rId4" cstate="print"/>
          <a:stretch>
            <a:fillRect/>
          </a:stretch>
        </p:blipFill>
        <p:spPr>
          <a:xfrm rot="13641499" flipV="1">
            <a:off x="4218353" y="3614054"/>
            <a:ext cx="542978" cy="14301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1000"/>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edge">
                                      <p:cBhvr>
                                        <p:cTn id="14" dur="1000"/>
                                        <p:tgtEl>
                                          <p:spTgt spid="5"/>
                                        </p:tgtEl>
                                      </p:cBhvr>
                                    </p:animEffec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edge">
                                      <p:cBhvr>
                                        <p:cTn id="21" dur="1000"/>
                                        <p:tgtEl>
                                          <p:spTgt spid="8"/>
                                        </p:tgtEl>
                                      </p:cBhvr>
                                    </p:animEffect>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edge">
                                      <p:cBhvr>
                                        <p:cTn id="28" dur="1000"/>
                                        <p:tgtEl>
                                          <p:spTgt spid="9"/>
                                        </p:tgtEl>
                                      </p:cBhvr>
                                    </p:animEffec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edge">
                                      <p:cBhvr>
                                        <p:cTn id="35" dur="1000"/>
                                        <p:tgtEl>
                                          <p:spTgt spid="6"/>
                                        </p:tgtEl>
                                      </p:cBhvr>
                                    </p:animEffect>
                                  </p:childTnLst>
                                </p:cTn>
                              </p:par>
                              <p:par>
                                <p:cTn id="36" presetID="1"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edge">
                                      <p:cBhvr>
                                        <p:cTn id="42" dur="1000"/>
                                        <p:tgtEl>
                                          <p:spTgt spid="10"/>
                                        </p:tgtEl>
                                      </p:cBhvr>
                                    </p:animEffec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lv-LV" dirty="0"/>
          </a:p>
        </p:txBody>
      </p:sp>
      <p:pic>
        <p:nvPicPr>
          <p:cNvPr id="3074" name="Picture 2"/>
          <p:cNvPicPr>
            <a:picLocks noChangeAspect="1" noChangeArrowheads="1"/>
          </p:cNvPicPr>
          <p:nvPr/>
        </p:nvPicPr>
        <p:blipFill>
          <a:blip r:embed="rId3" cstate="print"/>
          <a:srcRect/>
          <a:stretch>
            <a:fillRect/>
          </a:stretch>
        </p:blipFill>
        <p:spPr bwMode="auto">
          <a:xfrm>
            <a:off x="69008" y="476672"/>
            <a:ext cx="8967488" cy="54856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cstate="print"/>
          <a:srcRect/>
          <a:stretch>
            <a:fillRect/>
          </a:stretch>
        </p:blipFill>
        <p:spPr bwMode="auto">
          <a:xfrm>
            <a:off x="107504" y="1124744"/>
            <a:ext cx="11643775" cy="5688632"/>
          </a:xfrm>
          <a:prstGeom prst="rect">
            <a:avLst/>
          </a:prstGeom>
          <a:noFill/>
          <a:ln w="9525">
            <a:noFill/>
            <a:miter lim="800000"/>
            <a:headEnd/>
            <a:tailEnd/>
          </a:ln>
        </p:spPr>
      </p:pic>
      <p:sp>
        <p:nvSpPr>
          <p:cNvPr id="2" name="Title 1"/>
          <p:cNvSpPr>
            <a:spLocks noGrp="1"/>
          </p:cNvSpPr>
          <p:nvPr>
            <p:ph type="title"/>
          </p:nvPr>
        </p:nvSpPr>
        <p:spPr/>
        <p:txBody>
          <a:bodyPr/>
          <a:lstStyle/>
          <a:p>
            <a:r>
              <a:rPr lang="lv-LV" dirty="0" smtClean="0"/>
              <a:t>Test Execution</a:t>
            </a:r>
            <a:endParaRPr lang="lv-LV" dirty="0"/>
          </a:p>
        </p:txBody>
      </p:sp>
      <p:sp>
        <p:nvSpPr>
          <p:cNvPr id="4" name="Flowchart: Alternate Process 3"/>
          <p:cNvSpPr/>
          <p:nvPr/>
        </p:nvSpPr>
        <p:spPr>
          <a:xfrm>
            <a:off x="323528" y="6021288"/>
            <a:ext cx="2736304" cy="72008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5" name="Flowchart: Alternate Process 4"/>
          <p:cNvSpPr/>
          <p:nvPr/>
        </p:nvSpPr>
        <p:spPr>
          <a:xfrm>
            <a:off x="5580112" y="2276872"/>
            <a:ext cx="2016224" cy="28803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7" name="Flowchart: Alternate Process 6"/>
          <p:cNvSpPr/>
          <p:nvPr/>
        </p:nvSpPr>
        <p:spPr>
          <a:xfrm>
            <a:off x="3995936" y="1700808"/>
            <a:ext cx="2304256" cy="36004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8" name="Picture 7" descr="red-arrow (1).png"/>
          <p:cNvPicPr>
            <a:picLocks noChangeAspect="1"/>
          </p:cNvPicPr>
          <p:nvPr/>
        </p:nvPicPr>
        <p:blipFill>
          <a:blip r:embed="rId4" cstate="print"/>
          <a:stretch>
            <a:fillRect/>
          </a:stretch>
        </p:blipFill>
        <p:spPr>
          <a:xfrm rot="13641499" flipV="1">
            <a:off x="7674738" y="1309798"/>
            <a:ext cx="542978" cy="1430173"/>
          </a:xfrm>
          <a:prstGeom prst="rect">
            <a:avLst/>
          </a:prstGeom>
        </p:spPr>
      </p:pic>
      <p:pic>
        <p:nvPicPr>
          <p:cNvPr id="9" name="Picture 8" descr="red-arrow (1).png"/>
          <p:cNvPicPr>
            <a:picLocks noChangeAspect="1"/>
          </p:cNvPicPr>
          <p:nvPr/>
        </p:nvPicPr>
        <p:blipFill>
          <a:blip r:embed="rId4" cstate="print"/>
          <a:stretch>
            <a:fillRect/>
          </a:stretch>
        </p:blipFill>
        <p:spPr>
          <a:xfrm rot="13641499" flipV="1">
            <a:off x="6378594" y="733734"/>
            <a:ext cx="542978" cy="1430173"/>
          </a:xfrm>
          <a:prstGeom prst="rect">
            <a:avLst/>
          </a:prstGeom>
        </p:spPr>
      </p:pic>
      <p:pic>
        <p:nvPicPr>
          <p:cNvPr id="10" name="Picture 9" descr="red-arrow (1).png"/>
          <p:cNvPicPr>
            <a:picLocks noChangeAspect="1"/>
          </p:cNvPicPr>
          <p:nvPr/>
        </p:nvPicPr>
        <p:blipFill>
          <a:blip r:embed="rId4" cstate="print"/>
          <a:stretch>
            <a:fillRect/>
          </a:stretch>
        </p:blipFill>
        <p:spPr>
          <a:xfrm rot="13641499" flipV="1">
            <a:off x="3138233" y="5126222"/>
            <a:ext cx="542978" cy="14301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1000"/>
                                        <p:tgtEl>
                                          <p:spTgt spid="5"/>
                                        </p:tgtEl>
                                      </p:cBhvr>
                                    </p:animEffec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edge">
                                      <p:cBhvr>
                                        <p:cTn id="14" dur="1000"/>
                                        <p:tgtEl>
                                          <p:spTgt spid="7"/>
                                        </p:tgtEl>
                                      </p:cBhvr>
                                    </p:animEffec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edge">
                                      <p:cBhvr>
                                        <p:cTn id="21" dur="1000"/>
                                        <p:tgtEl>
                                          <p:spTgt spid="4"/>
                                        </p:tgtEl>
                                      </p:cBhvr>
                                    </p:animEffec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Test Failure </a:t>
            </a:r>
            <a:r>
              <a:rPr lang="lv-LV" dirty="0" smtClean="0">
                <a:sym typeface="Wingdings" pitchFamily="2" charset="2"/>
              </a:rPr>
              <a:t></a:t>
            </a:r>
            <a:r>
              <a:rPr lang="lv-LV" dirty="0" smtClean="0"/>
              <a:t> Problem Report</a:t>
            </a:r>
            <a:endParaRPr lang="lv-LV" dirty="0"/>
          </a:p>
        </p:txBody>
      </p:sp>
      <p:pic>
        <p:nvPicPr>
          <p:cNvPr id="5122" name="Picture 2"/>
          <p:cNvPicPr>
            <a:picLocks noChangeAspect="1" noChangeArrowheads="1"/>
          </p:cNvPicPr>
          <p:nvPr/>
        </p:nvPicPr>
        <p:blipFill>
          <a:blip r:embed="rId3" cstate="print"/>
          <a:srcRect/>
          <a:stretch>
            <a:fillRect/>
          </a:stretch>
        </p:blipFill>
        <p:spPr bwMode="auto">
          <a:xfrm>
            <a:off x="107504" y="1032486"/>
            <a:ext cx="9289032" cy="5780890"/>
          </a:xfrm>
          <a:prstGeom prst="rect">
            <a:avLst/>
          </a:prstGeom>
          <a:noFill/>
          <a:ln w="9525">
            <a:noFill/>
            <a:miter lim="800000"/>
            <a:headEnd/>
            <a:tailEnd/>
          </a:ln>
        </p:spPr>
      </p:pic>
      <p:sp>
        <p:nvSpPr>
          <p:cNvPr id="4" name="Flowchart: Alternate Process 3"/>
          <p:cNvSpPr/>
          <p:nvPr/>
        </p:nvSpPr>
        <p:spPr>
          <a:xfrm>
            <a:off x="323528" y="6093296"/>
            <a:ext cx="3168352" cy="64807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System Test </a:t>
            </a:r>
            <a:r>
              <a:rPr lang="lv-LV" dirty="0" smtClean="0">
                <a:sym typeface="Wingdings" pitchFamily="2" charset="2"/>
              </a:rPr>
              <a:t> Acceptance Test</a:t>
            </a:r>
            <a:endParaRPr lang="lv-LV" dirty="0"/>
          </a:p>
        </p:txBody>
      </p:sp>
      <p:pic>
        <p:nvPicPr>
          <p:cNvPr id="1026" name="Picture 2"/>
          <p:cNvPicPr>
            <a:picLocks noChangeAspect="1" noChangeArrowheads="1"/>
          </p:cNvPicPr>
          <p:nvPr/>
        </p:nvPicPr>
        <p:blipFill>
          <a:blip r:embed="rId3" cstate="print"/>
          <a:srcRect/>
          <a:stretch>
            <a:fillRect/>
          </a:stretch>
        </p:blipFill>
        <p:spPr bwMode="auto">
          <a:xfrm>
            <a:off x="-36512" y="1196752"/>
            <a:ext cx="6141889" cy="3908475"/>
          </a:xfrm>
          <a:prstGeom prst="rect">
            <a:avLst/>
          </a:prstGeom>
          <a:noFill/>
          <a:ln w="9525">
            <a:solidFill>
              <a:schemeClr val="bg1">
                <a:lumMod val="50000"/>
              </a:schemeClr>
            </a:solid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2827362" y="2420888"/>
            <a:ext cx="6713190" cy="4452053"/>
          </a:xfrm>
          <a:prstGeom prst="rect">
            <a:avLst/>
          </a:prstGeom>
          <a:noFill/>
          <a:ln w="9525">
            <a:solidFill>
              <a:schemeClr val="bg1">
                <a:lumMod val="50000"/>
              </a:schemeClr>
            </a:solidFill>
            <a:miter lim="800000"/>
            <a:headEnd/>
            <a:tailEnd/>
          </a:ln>
        </p:spPr>
      </p:pic>
      <p:pic>
        <p:nvPicPr>
          <p:cNvPr id="5" name="Picture 4" descr="red-arrow (1).png"/>
          <p:cNvPicPr>
            <a:picLocks noChangeAspect="1"/>
          </p:cNvPicPr>
          <p:nvPr/>
        </p:nvPicPr>
        <p:blipFill>
          <a:blip r:embed="rId5" cstate="print"/>
          <a:stretch>
            <a:fillRect/>
          </a:stretch>
        </p:blipFill>
        <p:spPr>
          <a:xfrm rot="18038580">
            <a:off x="1698466" y="1184333"/>
            <a:ext cx="647161" cy="2049072"/>
          </a:xfrm>
          <a:prstGeom prst="rect">
            <a:avLst/>
          </a:prstGeom>
        </p:spPr>
      </p:pic>
      <p:sp>
        <p:nvSpPr>
          <p:cNvPr id="6" name="TextBox 5"/>
          <p:cNvSpPr txBox="1"/>
          <p:nvPr/>
        </p:nvSpPr>
        <p:spPr>
          <a:xfrm>
            <a:off x="2814475" y="1148551"/>
            <a:ext cx="2261581" cy="1200329"/>
          </a:xfrm>
          <a:prstGeom prst="rect">
            <a:avLst/>
          </a:prstGeom>
          <a:solidFill>
            <a:schemeClr val="bg1">
              <a:alpha val="50000"/>
            </a:schemeClr>
          </a:solidFill>
        </p:spPr>
        <p:txBody>
          <a:bodyPr wrap="none" rtlCol="0">
            <a:spAutoFit/>
          </a:bodyPr>
          <a:lstStyle/>
          <a:p>
            <a:pPr algn="ctr"/>
            <a:r>
              <a:rPr lang="lv-LV" sz="2400" b="1" dirty="0" smtClean="0">
                <a:solidFill>
                  <a:srgbClr val="FF0000"/>
                </a:solidFill>
              </a:rPr>
              <a:t>Clone</a:t>
            </a:r>
          </a:p>
          <a:p>
            <a:pPr algn="ctr"/>
            <a:r>
              <a:rPr lang="lv-LV" sz="2400" b="1" dirty="0" smtClean="0">
                <a:solidFill>
                  <a:srgbClr val="FF0000"/>
                </a:solidFill>
              </a:rPr>
              <a:t>OR</a:t>
            </a:r>
          </a:p>
          <a:p>
            <a:pPr algn="ctr"/>
            <a:r>
              <a:rPr lang="lv-LV" sz="2400" b="1" dirty="0" smtClean="0">
                <a:solidFill>
                  <a:srgbClr val="FF0000"/>
                </a:solidFill>
              </a:rPr>
              <a:t>Clone and Move</a:t>
            </a:r>
            <a:endParaRPr lang="lv-LV" sz="2400" b="1" dirty="0">
              <a:solidFill>
                <a:srgbClr val="FF0000"/>
              </a:solidFill>
            </a:endParaRPr>
          </a:p>
        </p:txBody>
      </p:sp>
      <p:sp>
        <p:nvSpPr>
          <p:cNvPr id="7" name="Flowchart: Alternate Process 6"/>
          <p:cNvSpPr/>
          <p:nvPr/>
        </p:nvSpPr>
        <p:spPr>
          <a:xfrm>
            <a:off x="179512" y="3717032"/>
            <a:ext cx="2448272" cy="64807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8" name="Flowchart: Alternate Process 7"/>
          <p:cNvSpPr/>
          <p:nvPr/>
        </p:nvSpPr>
        <p:spPr>
          <a:xfrm>
            <a:off x="3275856" y="2348880"/>
            <a:ext cx="3024336" cy="64807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9" name="Flowchart: Alternate Process 8"/>
          <p:cNvSpPr/>
          <p:nvPr/>
        </p:nvSpPr>
        <p:spPr>
          <a:xfrm>
            <a:off x="2915816" y="6021288"/>
            <a:ext cx="3024336" cy="648072"/>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10" name="Picture 9" descr="red-arrow (1).png"/>
          <p:cNvPicPr>
            <a:picLocks noChangeAspect="1"/>
          </p:cNvPicPr>
          <p:nvPr/>
        </p:nvPicPr>
        <p:blipFill>
          <a:blip r:embed="rId5" cstate="print"/>
          <a:stretch>
            <a:fillRect/>
          </a:stretch>
        </p:blipFill>
        <p:spPr>
          <a:xfrm rot="13641499" flipV="1">
            <a:off x="6306586" y="1381725"/>
            <a:ext cx="542978" cy="1430173"/>
          </a:xfrm>
          <a:prstGeom prst="rect">
            <a:avLst/>
          </a:prstGeom>
        </p:spPr>
      </p:pic>
      <p:pic>
        <p:nvPicPr>
          <p:cNvPr id="11" name="Picture 10" descr="red-arrow (1).png"/>
          <p:cNvPicPr>
            <a:picLocks noChangeAspect="1"/>
          </p:cNvPicPr>
          <p:nvPr/>
        </p:nvPicPr>
        <p:blipFill>
          <a:blip r:embed="rId5" cstate="print"/>
          <a:stretch>
            <a:fillRect/>
          </a:stretch>
        </p:blipFill>
        <p:spPr>
          <a:xfrm rot="13641499" flipV="1">
            <a:off x="5802530" y="5054215"/>
            <a:ext cx="542978" cy="14301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edge">
                                      <p:cBhvr>
                                        <p:cTn id="13" dur="1000"/>
                                        <p:tgtEl>
                                          <p:spTgt spid="7"/>
                                        </p:tgtEl>
                                      </p:cBhvr>
                                    </p:animEffect>
                                  </p:childTnLst>
                                </p:cTn>
                              </p:par>
                              <p:par>
                                <p:cTn id="14" presetID="1"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16" presetID="2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edge">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edge">
                                      <p:cBhvr>
                                        <p:cTn id="23" dur="1000"/>
                                        <p:tgtEl>
                                          <p:spTgt spid="9"/>
                                        </p:tgtEl>
                                      </p:cBhvr>
                                    </p:animEffect>
                                  </p:childTnLst>
                                </p:cTn>
                              </p:par>
                              <p:par>
                                <p:cTn id="24" presetID="1"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lv-LV" dirty="0" smtClean="0"/>
              <a:t>Test Management – </a:t>
            </a:r>
            <a:br>
              <a:rPr lang="lv-LV" dirty="0" smtClean="0"/>
            </a:br>
            <a:r>
              <a:rPr lang="lv-LV" dirty="0" smtClean="0"/>
              <a:t>Status Report</a:t>
            </a:r>
            <a:endParaRPr lang="lv-LV" dirty="0"/>
          </a:p>
        </p:txBody>
      </p:sp>
      <p:pic>
        <p:nvPicPr>
          <p:cNvPr id="3074" name="Picture 2"/>
          <p:cNvPicPr>
            <a:picLocks noChangeAspect="1" noChangeArrowheads="1"/>
          </p:cNvPicPr>
          <p:nvPr/>
        </p:nvPicPr>
        <p:blipFill>
          <a:blip r:embed="rId3" cstate="print"/>
          <a:srcRect/>
          <a:stretch>
            <a:fillRect/>
          </a:stretch>
        </p:blipFill>
        <p:spPr bwMode="auto">
          <a:xfrm>
            <a:off x="1486136" y="1772816"/>
            <a:ext cx="6686264" cy="44644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179512" y="1340768"/>
            <a:ext cx="5553075" cy="3750945"/>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r>
              <a:rPr lang="lv-LV" dirty="0" smtClean="0"/>
              <a:t>Test Management – </a:t>
            </a:r>
            <a:br>
              <a:rPr lang="lv-LV" dirty="0" smtClean="0"/>
            </a:br>
            <a:r>
              <a:rPr lang="lv-LV" dirty="0" smtClean="0"/>
              <a:t>Status Report</a:t>
            </a:r>
            <a:endParaRPr lang="lv-LV" dirty="0"/>
          </a:p>
        </p:txBody>
      </p:sp>
      <p:pic>
        <p:nvPicPr>
          <p:cNvPr id="1027" name="Picture 3"/>
          <p:cNvPicPr>
            <a:picLocks noChangeAspect="1" noChangeArrowheads="1"/>
          </p:cNvPicPr>
          <p:nvPr/>
        </p:nvPicPr>
        <p:blipFill>
          <a:blip r:embed="rId4" cstate="print"/>
          <a:srcRect/>
          <a:stretch>
            <a:fillRect/>
          </a:stretch>
        </p:blipFill>
        <p:spPr bwMode="auto">
          <a:xfrm>
            <a:off x="3423403" y="4509120"/>
            <a:ext cx="5613093" cy="2301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lv-LV" dirty="0" smtClean="0"/>
              <a:t>Testing in Maintenance</a:t>
            </a:r>
            <a:endParaRPr lang="lv-LV" dirty="0"/>
          </a:p>
        </p:txBody>
      </p:sp>
      <p:pic>
        <p:nvPicPr>
          <p:cNvPr id="4098" name="Picture 2"/>
          <p:cNvPicPr>
            <a:picLocks noChangeAspect="1" noChangeArrowheads="1"/>
          </p:cNvPicPr>
          <p:nvPr/>
        </p:nvPicPr>
        <p:blipFill>
          <a:blip r:embed="rId3" cstate="print"/>
          <a:srcRect/>
          <a:stretch>
            <a:fillRect/>
          </a:stretch>
        </p:blipFill>
        <p:spPr bwMode="auto">
          <a:xfrm>
            <a:off x="4432" y="1412776"/>
            <a:ext cx="9151578" cy="4473898"/>
          </a:xfrm>
          <a:prstGeom prst="rect">
            <a:avLst/>
          </a:prstGeom>
          <a:noFill/>
          <a:ln w="9525">
            <a:noFill/>
            <a:miter lim="800000"/>
            <a:headEnd/>
            <a:tailEnd/>
          </a:ln>
        </p:spPr>
      </p:pic>
      <p:sp>
        <p:nvSpPr>
          <p:cNvPr id="5" name="Flowchart: Alternate Process 4"/>
          <p:cNvSpPr/>
          <p:nvPr/>
        </p:nvSpPr>
        <p:spPr>
          <a:xfrm>
            <a:off x="251520" y="4230490"/>
            <a:ext cx="3168352" cy="720080"/>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4099" name="Picture 3"/>
          <p:cNvPicPr>
            <a:picLocks noChangeAspect="1" noChangeArrowheads="1"/>
          </p:cNvPicPr>
          <p:nvPr/>
        </p:nvPicPr>
        <p:blipFill>
          <a:blip r:embed="rId4" cstate="print"/>
          <a:srcRect/>
          <a:stretch>
            <a:fillRect/>
          </a:stretch>
        </p:blipFill>
        <p:spPr bwMode="auto">
          <a:xfrm>
            <a:off x="2123728" y="5979368"/>
            <a:ext cx="6772275" cy="762000"/>
          </a:xfrm>
          <a:prstGeom prst="rect">
            <a:avLst/>
          </a:prstGeom>
          <a:noFill/>
          <a:ln w="9525">
            <a:solidFill>
              <a:schemeClr val="accent4"/>
            </a:solidFill>
            <a:miter lim="800000"/>
            <a:headEnd/>
            <a:tailEnd/>
          </a:ln>
          <a:effectLst>
            <a:outerShdw blurRad="50800" dist="38100" dir="13500000" algn="br" rotWithShape="0">
              <a:prstClr val="black">
                <a:alpha val="40000"/>
              </a:prstClr>
            </a:outerShdw>
          </a:effectLst>
        </p:spPr>
      </p:pic>
      <p:sp>
        <p:nvSpPr>
          <p:cNvPr id="7" name="Flowchart: Alternate Process 6"/>
          <p:cNvSpPr/>
          <p:nvPr/>
        </p:nvSpPr>
        <p:spPr>
          <a:xfrm>
            <a:off x="2051720" y="5877272"/>
            <a:ext cx="1800200" cy="43204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pic>
        <p:nvPicPr>
          <p:cNvPr id="8" name="Picture 7" descr="red-arrow (1).png"/>
          <p:cNvPicPr>
            <a:picLocks noChangeAspect="1"/>
          </p:cNvPicPr>
          <p:nvPr/>
        </p:nvPicPr>
        <p:blipFill>
          <a:blip r:embed="rId5" cstate="print"/>
          <a:stretch>
            <a:fillRect/>
          </a:stretch>
        </p:blipFill>
        <p:spPr>
          <a:xfrm rot="13641499" flipV="1">
            <a:off x="3354257" y="3254015"/>
            <a:ext cx="542978" cy="1430173"/>
          </a:xfrm>
          <a:prstGeom prst="rect">
            <a:avLst/>
          </a:prstGeom>
        </p:spPr>
      </p:pic>
      <p:pic>
        <p:nvPicPr>
          <p:cNvPr id="9" name="Picture 8" descr="red-arrow (1).png"/>
          <p:cNvPicPr>
            <a:picLocks noChangeAspect="1"/>
          </p:cNvPicPr>
          <p:nvPr/>
        </p:nvPicPr>
        <p:blipFill>
          <a:blip r:embed="rId5" cstate="print"/>
          <a:stretch>
            <a:fillRect/>
          </a:stretch>
        </p:blipFill>
        <p:spPr>
          <a:xfrm rot="13641499" flipV="1">
            <a:off x="3930322" y="4982206"/>
            <a:ext cx="542978" cy="14301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1000"/>
                                        <p:tgtEl>
                                          <p:spTgt spid="5"/>
                                        </p:tgtEl>
                                      </p:cBhvr>
                                    </p:animEffec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edge">
                                      <p:cBhvr>
                                        <p:cTn id="14" dur="1000"/>
                                        <p:tgtEl>
                                          <p:spTgt spid="7"/>
                                        </p:tgtEl>
                                      </p:cBhvr>
                                    </p:animEffect>
                                  </p:childTnLst>
                                </p:cTn>
                              </p:par>
                              <p:par>
                                <p:cTn id="15" presetID="1" presetClass="entr" presetSubtype="0" fill="hold" nodeType="withEffect">
                                  <p:stCondLst>
                                    <p:cond delay="0"/>
                                  </p:stCondLst>
                                  <p:childTnLst>
                                    <p:set>
                                      <p:cBhvr>
                                        <p:cTn id="16" dur="1" fill="hold">
                                          <p:stCondLst>
                                            <p:cond delay="0"/>
                                          </p:stCondLst>
                                        </p:cTn>
                                        <p:tgtEl>
                                          <p:spTgt spid="409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Version Maturity</a:t>
            </a:r>
            <a:endParaRPr lang="lv-LV" dirty="0"/>
          </a:p>
        </p:txBody>
      </p:sp>
      <p:pic>
        <p:nvPicPr>
          <p:cNvPr id="2050" name="Picture 2"/>
          <p:cNvPicPr>
            <a:picLocks noChangeAspect="1" noChangeArrowheads="1"/>
          </p:cNvPicPr>
          <p:nvPr/>
        </p:nvPicPr>
        <p:blipFill>
          <a:blip r:embed="rId3" cstate="print"/>
          <a:srcRect/>
          <a:stretch>
            <a:fillRect/>
          </a:stretch>
        </p:blipFill>
        <p:spPr bwMode="auto">
          <a:xfrm>
            <a:off x="536763" y="1052736"/>
            <a:ext cx="8139693" cy="5791704"/>
          </a:xfrm>
          <a:prstGeom prst="rect">
            <a:avLst/>
          </a:prstGeom>
          <a:noFill/>
          <a:ln w="9525">
            <a:noFill/>
            <a:miter lim="800000"/>
            <a:headEnd/>
            <a:tailEnd/>
          </a:ln>
        </p:spPr>
      </p:pic>
      <p:sp>
        <p:nvSpPr>
          <p:cNvPr id="5" name="Flowchart: Alternate Process 4"/>
          <p:cNvSpPr/>
          <p:nvPr/>
        </p:nvSpPr>
        <p:spPr>
          <a:xfrm>
            <a:off x="2051720" y="2204864"/>
            <a:ext cx="1584176" cy="2952328"/>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
        <p:nvSpPr>
          <p:cNvPr id="6" name="Flowchart: Alternate Process 5"/>
          <p:cNvSpPr/>
          <p:nvPr/>
        </p:nvSpPr>
        <p:spPr>
          <a:xfrm>
            <a:off x="6948264" y="2204864"/>
            <a:ext cx="1800200" cy="504056"/>
          </a:xfrm>
          <a:prstGeom prst="flowChartAlternateProcess">
            <a:avLst/>
          </a:prstGeom>
          <a:noFill/>
          <a:ln w="19050">
            <a:solidFill>
              <a:srgbClr val="FF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lv-LV"/>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1000"/>
                                        <p:tgtEl>
                                          <p:spTgt spid="6"/>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edg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fontScale="92500" lnSpcReduction="10000"/>
          </a:bodyPr>
          <a:lstStyle/>
          <a:p>
            <a:pPr algn="ctr"/>
            <a:endParaRPr lang="lv-LV" dirty="0" smtClean="0"/>
          </a:p>
          <a:p>
            <a:pPr algn="ctr"/>
            <a:r>
              <a:rPr lang="lv-LV" dirty="0" smtClean="0"/>
              <a:t>Try JIRA on your own! </a:t>
            </a:r>
            <a:br>
              <a:rPr lang="lv-LV" dirty="0" smtClean="0"/>
            </a:br>
            <a:r>
              <a:rPr lang="lv-LV" dirty="0" smtClean="0"/>
              <a:t>JIRA OnDemand</a:t>
            </a:r>
            <a:br>
              <a:rPr lang="lv-LV" dirty="0" smtClean="0"/>
            </a:br>
            <a:r>
              <a:rPr lang="lv-LV" dirty="0" smtClean="0">
                <a:hlinkClick r:id="rId3"/>
              </a:rPr>
              <a:t>www.atlassian.com/software/jira/try/</a:t>
            </a:r>
            <a:r>
              <a:rPr lang="lv-LV" dirty="0" smtClean="0"/>
              <a:t> </a:t>
            </a:r>
          </a:p>
        </p:txBody>
      </p:sp>
      <p:sp>
        <p:nvSpPr>
          <p:cNvPr id="3" name="Title 2"/>
          <p:cNvSpPr>
            <a:spLocks noGrp="1"/>
          </p:cNvSpPr>
          <p:nvPr>
            <p:ph type="title"/>
          </p:nvPr>
        </p:nvSpPr>
        <p:spPr/>
        <p:txBody>
          <a:bodyPr/>
          <a:lstStyle/>
          <a:p>
            <a:r>
              <a:rPr lang="lv-LV" dirty="0" smtClean="0"/>
              <a:t>JIRA Demo</a:t>
            </a:r>
            <a:endParaRPr lang="lv-LV"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860032" y="4852119"/>
            <a:ext cx="3528392" cy="1673225"/>
          </a:xfrm>
        </p:spPr>
        <p:txBody>
          <a:bodyPr>
            <a:normAutofit/>
          </a:bodyPr>
          <a:lstStyle/>
          <a:p>
            <a:r>
              <a:rPr lang="lv-LV" dirty="0" smtClean="0"/>
              <a:t>Maija Ļaksa</a:t>
            </a:r>
            <a:br>
              <a:rPr lang="lv-LV" dirty="0" smtClean="0"/>
            </a:br>
            <a:r>
              <a:rPr lang="lv-LV" dirty="0" smtClean="0">
                <a:hlinkClick r:id="rId3"/>
              </a:rPr>
              <a:t>maija.laksa@ebit.lv</a:t>
            </a:r>
            <a:r>
              <a:rPr lang="lv-LV" dirty="0" smtClean="0"/>
              <a:t> </a:t>
            </a:r>
            <a:br>
              <a:rPr lang="lv-LV" dirty="0" smtClean="0"/>
            </a:br>
            <a:r>
              <a:rPr lang="lv-LV" dirty="0" smtClean="0">
                <a:hlinkClick r:id="rId4"/>
              </a:rPr>
              <a:t>www.ebit.lv</a:t>
            </a:r>
            <a:r>
              <a:rPr lang="lv-LV" dirty="0" smtClean="0"/>
              <a:t> </a:t>
            </a:r>
            <a:endParaRPr lang="lv-LV" dirty="0"/>
          </a:p>
        </p:txBody>
      </p:sp>
      <p:sp>
        <p:nvSpPr>
          <p:cNvPr id="8" name="Title 7"/>
          <p:cNvSpPr>
            <a:spLocks noGrp="1"/>
          </p:cNvSpPr>
          <p:nvPr>
            <p:ph type="title"/>
          </p:nvPr>
        </p:nvSpPr>
        <p:spPr/>
        <p:txBody>
          <a:bodyPr/>
          <a:lstStyle/>
          <a:p>
            <a:r>
              <a:rPr lang="lv-LV" dirty="0" smtClean="0"/>
              <a:t>Questions?</a:t>
            </a:r>
            <a:endParaRPr lang="lv-LV" dirty="0"/>
          </a:p>
        </p:txBody>
      </p:sp>
      <p:pic>
        <p:nvPicPr>
          <p:cNvPr id="4" name="Picture 3" descr="eBIT_logo-small.png">
            <a:hlinkClick r:id="rId4"/>
          </p:cNvPr>
          <p:cNvPicPr>
            <a:picLocks noChangeAspect="1"/>
          </p:cNvPicPr>
          <p:nvPr/>
        </p:nvPicPr>
        <p:blipFill>
          <a:blip r:embed="rId5" cstate="print"/>
          <a:stretch>
            <a:fillRect/>
          </a:stretch>
        </p:blipFill>
        <p:spPr>
          <a:xfrm>
            <a:off x="7399034" y="6021288"/>
            <a:ext cx="1401801" cy="620266"/>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spDef>
      <a:spPr>
        <a:solidFill>
          <a:schemeClr val="accent2">
            <a:alpha val="100000"/>
          </a:schemeClr>
        </a:solidFill>
        <a:ln w="50800" cap="rnd" cmpd="dbl" algn="ctr">
          <a:noFill/>
          <a:prstDash val="solid"/>
        </a:ln>
        <a:effectLst/>
      </a:spPr>
      <a:bodyPr anchor="ctr"/>
      <a:lstStyle>
        <a:defPPr algn="ctr" eaLnBrk="1" latinLnBrk="0" hangingPunct="1">
          <a:defRPr kumimoji="0"/>
        </a:defPPr>
      </a:lstStyle>
      <a:style>
        <a:lnRef idx="3">
          <a:schemeClr val="lt1"/>
        </a:lnRef>
        <a:fillRef idx="1">
          <a:schemeClr val="accent1"/>
        </a:fillRef>
        <a:effectRef idx="1">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Template>
  <TotalTime>7226</TotalTime>
  <Words>1263</Words>
  <Application>Microsoft Office PowerPoint</Application>
  <PresentationFormat>On-screen Show (4:3)</PresentationFormat>
  <Paragraphs>203</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Median</vt:lpstr>
      <vt:lpstr>JIRA as a TOOL  For Test MANAGEMENT</vt:lpstr>
      <vt:lpstr>Products by Atlassian</vt:lpstr>
      <vt:lpstr>JIRA Concepts of Issue Tracking</vt:lpstr>
      <vt:lpstr>JIRA Workflow Concept</vt:lpstr>
      <vt:lpstr>JIRA Issue Relationships</vt:lpstr>
      <vt:lpstr>Versions in JIRA</vt:lpstr>
      <vt:lpstr>Issue Types for Test Management</vt:lpstr>
      <vt:lpstr>Testing Phases</vt:lpstr>
      <vt:lpstr>JIRA Issue View</vt:lpstr>
      <vt:lpstr>Testing Workflow</vt:lpstr>
      <vt:lpstr>Test Statuses</vt:lpstr>
      <vt:lpstr>Slide 12</vt:lpstr>
      <vt:lpstr>Slide 13</vt:lpstr>
      <vt:lpstr>Test Execution</vt:lpstr>
      <vt:lpstr>Test Failure  Problem Report</vt:lpstr>
      <vt:lpstr>System Test  Acceptance Test</vt:lpstr>
      <vt:lpstr>Test Management –  Status Report</vt:lpstr>
      <vt:lpstr>Test Management –  Status Report</vt:lpstr>
      <vt:lpstr>Testing in Maintenance</vt:lpstr>
      <vt:lpstr>Version Maturity</vt:lpstr>
      <vt:lpstr>JIRA Demo</vt:lpstr>
      <vt:lpstr>Questions?</vt:lpstr>
    </vt:vector>
  </TitlesOfParts>
  <Company>eBIT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JIRA kā testēšaas pārvaldības rīks</dc:title>
  <dc:creator>maija.laksa</dc:creator>
  <cp:lastModifiedBy>maija.laksa</cp:lastModifiedBy>
  <cp:revision>199</cp:revision>
  <dcterms:created xsi:type="dcterms:W3CDTF">2011-11-29T15:06:08Z</dcterms:created>
  <dcterms:modified xsi:type="dcterms:W3CDTF">2012-05-17T06:35:41Z</dcterms:modified>
</cp:coreProperties>
</file>